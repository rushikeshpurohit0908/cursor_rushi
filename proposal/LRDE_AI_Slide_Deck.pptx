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B8D9CC"/>
                </a:solidFill>
                <a:latin typeface="Calibri"/>
              </a:rPr>
              <a:t>PROPOSAL FOR LRDE · BENGALURU · RESTRICTED</a:t>
            </a:r>
          </a:p>
          <a:p>
            <a:pPr>
              <a:spcAft>
                <a:spcPts val="600"/>
              </a:spcAft>
            </a:pPr>
            <a:r>
              <a:rPr sz="4800" b="0">
                <a:solidFill>
                  <a:srgbClr val="FFFFFF"/>
                </a:solidFill>
                <a:latin typeface="Georgia"/>
              </a:rPr>
              <a:t>Altera</a:t>
            </a:r>
          </a:p>
          <a:p>
            <a:pPr>
              <a:spcAft>
                <a:spcPts val="10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AI Compute Platform for LRDE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5E4DC"/>
                </a:solidFill>
                <a:latin typeface="Calibri"/>
              </a:rPr>
              <a:t>Sovereign training hardware and Altera Agilex™ FPGA inference for radar signal intelligence, AESA processing aids, and real-time classification.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0C4BA"/>
                </a:solidFill>
                <a:latin typeface="Calibri"/>
              </a:rPr>
              <a:t>Audience: LRDE leadership &amp; radar AI teams    ·    Focus: Radar / AESA / EW-adjacent AI    ·    Version 1.0 ·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AGENDA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What we will cover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A66"/>
                </a:solidFill>
                <a:latin typeface="Calibri"/>
              </a:rPr>
              <a:t>A complete path from LRDE training data to fielded FPGA inference inside radar timelines.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1.  LRDE mission fit &amp; AI opportunities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2.  End-to-end architecture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3.  Training hardware (secure GPU lab)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4.  Inference on Altera Agilex FPGAs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5.  Software toolchain &amp; MLOps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6.  LRDE use-case packages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7.  Security &amp; sovereignty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C1620"/>
                </a:solidFill>
                <a:latin typeface="Calibri"/>
              </a:rPr>
              <a:t>8.  PoC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LRDE CONTEXT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Radar AI where it matters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A66"/>
                </a:solidFill>
                <a:latin typeface="Calibri"/>
              </a:rPr>
              <a:t>LRDE designs ground-based, shipborne, airborne, and space-related radar systems — AI must respect real-time DSP pipelines and SWaP.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34747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64008" cy="329184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414016"/>
            <a:ext cx="321868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AESA &amp; multifunction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Fire-control, surveillance, 4D radars.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Multi-mode interleaved operation needs deterministic assistive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286000"/>
            <a:ext cx="34747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2286000"/>
            <a:ext cx="64008" cy="329184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414016"/>
            <a:ext cx="321868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Signal intelligence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Pulse / emitter classification.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LPI detection aids, clutter/anomaly separation on I/Q &amp; spectrograms.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286000"/>
            <a:ext cx="34747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2286000"/>
            <a:ext cx="64008" cy="329184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414016"/>
            <a:ext cx="321868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Advanced research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Hypersonic cues, stealth-detection aids, FOPEN features.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Netted-radar fusion — train secure, infer at the sensor.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PROBLEM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Gaps in today’s radar AI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64008" cy="210312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65376"/>
            <a:ext cx="504748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Training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Classified I/Q &amp; track data cannot leave LRDE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Cloud GPUs unsuitable for air-gapped labs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Weak experiment / model lineage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64008" cy="210312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51376"/>
            <a:ext cx="504748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Inference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GPUs struggle with radar SWaP &amp; latency budgets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Need tight coupling to JESD / ADC / beam data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Long program life vs short GPU cycles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120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64008" cy="43891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65376"/>
            <a:ext cx="486460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Required outcome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 sovereign stack that lets LRDE: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Train on-prem on radar datasets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Compile models to FPGA AI IP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Deploy inside ERP / processor cabinets or payloads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Update bitstreams without board respins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ARCHITECTURE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Train once · Infer on Agilex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10911535" cy="3200400"/>
          </a:xfrm>
          <a:prstGeom prst="rect">
            <a:avLst/>
          </a:prstGeom>
          <a:solidFill>
            <a:srgbClr val="0C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45433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8EBE2"/>
                </a:solidFill>
                <a:latin typeface="Consolas"/>
              </a:rPr>
              <a:t>LRDE SECURE LAB</a:t>
            </a:r>
            <a:br/>
            <a:r>
              <a:t>  Radar Data Vault → GPU Training Cluster → Model Registry</a:t>
            </a:r>
            <a:br/>
            <a:r>
              <a:t>                         │  ONNX / OpenVINO IR</a:t>
            </a:r>
            <a:br/>
            <a:r>
              <a:t>                         ▼</a:t>
            </a:r>
            <a:br/>
            <a:r>
              <a:t>  Quantize + Accuracy Gates → FPGA AI Suite (dla_compiler)</a:t>
            </a:r>
            <a:br/>
            <a:r>
              <a:t>          ┌──────────────┼──────────────┐</a:t>
            </a:r>
            <a:br/>
            <a:r>
              <a:t>   Hostless Agilex   SoC Agilex 5    PCIe Agilex 7</a:t>
            </a:r>
            <a:br/>
            <a:r>
              <a:t>   (ERP / payload)   (edge node)     (shelter / C2)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1208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A6B52"/>
                </a:solidFill>
                <a:latin typeface="Georgia"/>
              </a:rPr>
              <a:t>GPU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Secure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19" y="521208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534924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A6B52"/>
                </a:solidFill>
                <a:latin typeface="Georgia"/>
              </a:rPr>
              <a:t>OpenVINO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IR + hetero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8" y="521208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8" y="534924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A6B52"/>
                </a:solidFill>
                <a:latin typeface="Georgia"/>
              </a:rPr>
              <a:t>Agilex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Field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TRAINING HARDWARE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Air-gapped radar AI training lab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A66"/>
                </a:solidFill>
                <a:latin typeface="Calibri"/>
              </a:rPr>
              <a:t>Sized for LRDE model development on spectrograms, RD maps, tracks, and multi-sensor fusion sets.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21031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30352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Reference spec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Role for LRDE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GPU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8× datacenter GPUs/node, dual CPU, 1–2 TB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CNN / transformer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NVLink + InfiniBand NDR / RoCE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Distributed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Encrypted 0.5–2 PB object / parallel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I/Q archives, checkpoints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CPU ETL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High-core labeling &amp; feature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RD maps, CFAR labels, sim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Air gap, bastion MFA, optional diode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Sovereign model export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TRAINING SOFTWARE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ML stack inside the wire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64008" cy="292608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65376"/>
            <a:ext cx="50474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Frameworks &amp; ops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PyTorch / TensorFlow (air-gapped registry)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DeepSpeed / FSDP for large models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Slurm or Kubernetes + Apptainer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MLflow / DVC for lineage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37360"/>
            <a:ext cx="51206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64008" cy="292608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65376"/>
            <a:ext cx="486460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Radar-specific data path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I/Q → STFT / RD / spectrogram pipelines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Synthetic + trial data blending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Golden sets for accuracy gates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Signed ONNX / IR promotion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64008" cy="13716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65776"/>
            <a:ext cx="106555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Handoff to inference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Export ONNX → OpenVINO IR → FPGA AI Suite compile → signed bitstream / network-bin for LRDE platforms.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INFERENCE HARDWARE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Altera Agilex™ for radar timelines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A66"/>
                </a:solidFill>
                <a:latin typeface="Calibri"/>
              </a:rPr>
              <a:t>FPGAs sit next to the exciter–receiver–processor chain — reconfigurable AI without breaking determinism.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21031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INT8 class*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LRDE placement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Agilex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~2.6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Miniaturized / SoC radar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Agilex 5 E-Series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~26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Compact processors, mobile radars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Agilex 5 D-Series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~152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Multi-channel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Agilex 7 I/M-Series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~89 TOPS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ERP co-process, PCIe, shelters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6"/>
                </a:solidFill>
                <a:latin typeface="Calibri"/>
              </a:rPr>
              <a:t>*Architecture- and IP-dependent; sized per model with FPGA AI Suite Architecture Optimizer.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DEPLOYMENT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Form factors for LRDE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" cy="292608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56816"/>
            <a:ext cx="32186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Hostless / DDR-free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AI IP in fabric beside DSP.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Lowest latency for pulse/window classifiers inside ERP.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828800"/>
            <a:ext cx="64008" cy="292608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956816"/>
            <a:ext cx="32186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SoC (HPS)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On-chip Linux + AI IP.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Ideal for transportable radars and edge fusion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64008" cy="292608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56816"/>
            <a:ext cx="32186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PCIe / OFS card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Look-aside acceleration in operation shelters and lab validation 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4536"/>
                </a:solidFill>
                <a:latin typeface="Calibri"/>
              </a:rPr>
              <a:t>JESD204 / ADC attach   ·   Aurora / Ethernet sensor nets   ·   Bitstream encryption   ·   Long defence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WHY ALTERA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FPGA vs GPU for LRDE inference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840480"/>
                <a:gridCol w="39319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Altera FPGA</a:t>
                      </a:r>
                    </a:p>
                  </a:txBody>
                  <a:tcPr>
                    <a:solidFill>
                      <a:srgbClr val="EBE6D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Latency determinism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Batch / driver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Pipeline-friendly,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RF / DSP 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Needs host staging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Direct fabric I/O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Power in cabinet /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Lower W for fixed 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Model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Driver + app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Bitstream / network-bin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Program longevity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Short SKU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10–15+ year class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SOFTWARE TOOLCHAIN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From PyTorch to radar bitstream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10911535" cy="3474720"/>
          </a:xfrm>
          <a:prstGeom prst="rect">
            <a:avLst/>
          </a:prstGeom>
          <a:solidFill>
            <a:srgbClr val="0C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28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BE2"/>
                </a:solidFill>
                <a:latin typeface="Consolas"/>
              </a:rPr>
              <a:t>Train (PyTorch) → ONNX</a:t>
            </a:r>
            <a:br/>
            <a:r>
              <a:t>  → OpenVINO convert_model / ovc  →  IR (.xml/.bin)</a:t>
            </a:r>
            <a:br/>
            <a:r>
              <a:t>  → Quantize (INT8 / FP16) + golden accuracy gate</a:t>
            </a:r>
            <a:br/>
            <a:r>
              <a:t>  → FPGA AI Suite  dla_compiler --march &lt;arch.arch&gt;</a:t>
            </a:r>
            <a:br/>
            <a:r>
              <a:t>  → Architecture Optimizer (area ↔ FPS)</a:t>
            </a:r>
            <a:br/>
            <a:r>
              <a:t>  → Bit-accurate OpenVINO emulation</a:t>
            </a:r>
            <a:br/>
            <a:r>
              <a:t>  → Quartus Prime integrate AI IP → bitstream</a:t>
            </a:r>
            <a:br/>
            <a:r>
              <a:t>  → Runtime: FPGA  or  HETERO:FPGA,CPU  (or hostless)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A66"/>
                </a:solidFill>
                <a:latin typeface="Calibri"/>
              </a:rPr>
              <a:t>Core tools: OpenVINO · FPGA AI Suite · Quartus Prime · optional Open FPGA Stack (OFS).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LRDE PACKAGES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Three PoC-ready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" cy="36576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56816"/>
            <a:ext cx="3218688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1. Emitter / pulse ID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Spectrogram CNN on Agilex 7 hostless or PCIe.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Continuous windows, deterministic latency for EW-adjacent radar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828800"/>
            <a:ext cx="64008" cy="36576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956816"/>
            <a:ext cx="3218688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2. Target / clutter assist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RD-map or tracklet classifier on Agilex 5.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Aids discrimination for fighters, slow movers, false-alarm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64008" cy="36576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56816"/>
            <a:ext cx="3218688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3. Netted fusion node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Multi-radar feature fusion on Agilex 7 PCIe in shelter C2.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Signed model hot-swap after trials.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SECURITY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Sovereignty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" cy="18288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56816"/>
            <a:ext cx="50474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Data residency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I/Q, tracks, and labels never leave LRDE premises.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64008" cy="18288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56816"/>
            <a:ext cx="486460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Air gap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Training isolated; controlled diode export of IR/bitstreams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64008" cy="18288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059936"/>
            <a:ext cx="50474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Bitstream trust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Encryption, authentication, anti-tamper options on Agilex.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3192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64008" cy="18288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059936"/>
            <a:ext cx="486460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Indian partners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Board / SOM qualification with SI &amp; DPSU ecosystem.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ROADMAP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Phased engagement with LRDE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737360"/>
            <a:ext cx="1022573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874520"/>
            <a:ext cx="98142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620"/>
                </a:solidFill>
                <a:latin typeface="Calibri"/>
              </a:rPr>
              <a:t>Discovery — 4–6 weeks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Workload survey (2 models), latency/SWaP envelopes, success metrics with ERP owners.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880360"/>
            <a:ext cx="1022573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017520"/>
            <a:ext cx="98142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620"/>
                </a:solidFill>
                <a:latin typeface="Calibri"/>
              </a:rPr>
              <a:t>PoC — 8–12 weeks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Port models to Agilex eval kits; accuracy vs golden set; latency report for radar windows.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4023360"/>
            <a:ext cx="1022573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160520"/>
            <a:ext cx="98142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620"/>
                </a:solidFill>
                <a:latin typeface="Calibri"/>
              </a:rPr>
              <a:t>Pilot — 3–6 months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Rugged module or PCIe in processor cabinet; training-cluster slice; MLOps baseline.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5166360"/>
            <a:ext cx="1022573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303520"/>
            <a:ext cx="98142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620"/>
                </a:solidFill>
                <a:latin typeface="Calibri"/>
              </a:rPr>
              <a:t>Scale — program-driven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Production SOM/PCIe, environmental qualification, ILS &amp; field update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A6B52"/>
                </a:solidFill>
                <a:latin typeface="Calibri"/>
              </a:rPr>
              <a:t>REFERENCE BOM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6324F"/>
                </a:solidFill>
                <a:latin typeface="Georgia"/>
              </a:rPr>
              <a:t>What LRDE would procure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53035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" cy="32004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56816"/>
            <a:ext cx="504748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Training lab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GPU nodes + IB fabric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Encrypted storage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Hardened MLOps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64008" cy="3200400"/>
          </a:xfrm>
          <a:prstGeom prst="rect">
            <a:avLst/>
          </a:prstGeom>
          <a:solidFill>
            <a:srgbClr val="0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56816"/>
            <a:ext cx="486460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Inference &amp; tools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Agilex 7 PCIe + Agilex 5 kits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Quartus Prime + FPGA AI Suite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• OpenVINO + enablement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A66"/>
                </a:solidFill>
                <a:latin typeface="Calibri"/>
              </a:rPr>
              <a:t>Detailed commercial annex after discovery workshop. See BOM_Reference.md.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B8D9CC"/>
                </a:solidFill>
                <a:latin typeface="Calibri"/>
              </a:rPr>
              <a:t>CALL TO ACTION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FFFFFF"/>
                </a:solidFill>
                <a:latin typeface="Georgia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94960" cy="1554480"/>
          </a:xfrm>
          <a:prstGeom prst="rect">
            <a:avLst/>
          </a:prstGeom>
          <a:solidFill>
            <a:srgbClr val="1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1. Workshop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5D5CD"/>
                </a:solidFill>
                <a:latin typeface="Calibri"/>
              </a:rPr>
              <a:t>2-day architecture session at LRDE — nominate radar AI &amp; ERP stakeholders.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394960" cy="1554480"/>
          </a:xfrm>
          <a:prstGeom prst="rect">
            <a:avLst/>
          </a:prstGeom>
          <a:solidFill>
            <a:srgbClr val="1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574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2. Select models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5D5CD"/>
                </a:solidFill>
                <a:latin typeface="Calibri"/>
              </a:rPr>
              <a:t>Pick two flagship networks (e.g. pulse ID + RD classifier) for Phase-1 PoC.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5394960" cy="1554480"/>
          </a:xfrm>
          <a:prstGeom prst="rect">
            <a:avLst/>
          </a:prstGeom>
          <a:solidFill>
            <a:srgbClr val="1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3. Lock gates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5D5CD"/>
                </a:solidFill>
                <a:latin typeface="Calibri"/>
              </a:rPr>
              <a:t>Agree accuracy, window latency, and power budgets before compile.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57600"/>
            <a:ext cx="5394960" cy="1554480"/>
          </a:xfrm>
          <a:prstGeom prst="rect">
            <a:avLst/>
          </a:prstGeom>
          <a:solidFill>
            <a:srgbClr val="1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4. SOW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5D5CD"/>
                </a:solidFill>
                <a:latin typeface="Calibri"/>
              </a:rPr>
              <a:t>Issue technical SOW + commercial annex for PoC kits and FAE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0C4BA"/>
                </a:solidFill>
                <a:latin typeface="Calibri"/>
              </a:rPr>
              <a:t>Prepared for LRDE, DRDO Bengaluru    ·    Inference: Altera Agilex + FPGA AI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