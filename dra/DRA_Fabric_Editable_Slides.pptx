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A9AAB"/>
                </a:solidFill>
                <a:latin typeface="Calibri"/>
              </a:rPr>
              <a:t>ALTERA  |  SPACE / NTN PAYLOAD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FFFF"/>
                </a:solidFill>
                <a:latin typeface="Georgia"/>
              </a:rPr>
              <a:t>Onboard Router / Switch Fabric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BB0C0"/>
                </a:solidFill>
                <a:latin typeface="Calibri"/>
              </a:rPr>
              <a:t>Regenerative digital cross-connect between RX cluster, TX cluster, and Feeder-link stage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926080" cy="1005840"/>
          </a:xfrm>
          <a:prstGeom prst="roundRect">
            <a:avLst>
              <a:gd name="adj" fmla="val 10000"/>
            </a:avLst>
          </a:prstGeom>
          <a:solidFill>
            <a:srgbClr val="0E2A35"/>
          </a:solidFill>
          <a:ln w="12700">
            <a:solidFill>
              <a:srgbClr val="1A9A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8346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RX Device Cluster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9BB0C0"/>
                </a:solidFill>
                <a:latin typeface="Calibri"/>
              </a:rPr>
              <a:t>4× AGRW027/039  ·  Beams 1–32</a:t>
            </a:r>
            <a:br/>
            <a:r>
              <a:t>Post DVB-RCS2 / NTN Low-PHY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554480"/>
            <a:ext cx="2926080" cy="1005840"/>
          </a:xfrm>
          <a:prstGeom prst="roundRect">
            <a:avLst>
              <a:gd name="adj" fmla="val 10000"/>
            </a:avLst>
          </a:prstGeom>
          <a:solidFill>
            <a:srgbClr val="2A1E12"/>
          </a:solidFill>
          <a:ln w="12700">
            <a:solidFill>
              <a:srgbClr val="C27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627632"/>
            <a:ext cx="28346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TX Device Cluster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9BB0C0"/>
                </a:solidFill>
                <a:latin typeface="Calibri"/>
              </a:rPr>
              <a:t>5× AGRW027/039  ·  Beams 1–40</a:t>
            </a:r>
            <a:br/>
            <a:r>
              <a:t>Pre DVB-S2X / NTN Low-PHY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3017520"/>
            <a:ext cx="5029200" cy="1143000"/>
          </a:xfrm>
          <a:prstGeom prst="roundRect">
            <a:avLst>
              <a:gd name="adj" fmla="val 10000"/>
            </a:avLst>
          </a:prstGeom>
          <a:solidFill>
            <a:srgbClr val="1B3F66"/>
          </a:solidFill>
          <a:ln w="12700">
            <a:solidFill>
              <a:srgbClr val="4A7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3090672"/>
            <a:ext cx="4937760" cy="1033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Onboard Router / Switch Fabric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9BB0C0"/>
                </a:solidFill>
                <a:latin typeface="Calibri"/>
              </a:rPr>
              <a:t>58 Gbps-class SerDes trunks  ·  Packet / TB switching</a:t>
            </a:r>
            <a:br/>
            <a:r>
              <a:t>(not raw ADC/DAC samples)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66344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16324F"/>
          </a:solidFill>
          <a:ln w="12700">
            <a:solidFill>
              <a:srgbClr val="4A7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4736592"/>
            <a:ext cx="347472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Feeder-link Stage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9BB0C0"/>
                </a:solidFill>
                <a:latin typeface="Calibri"/>
              </a:rPr>
              <a:t>Gateway modem  ·  TT&amp;C overlay  ·  Ground trunk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66160" y="2057400"/>
            <a:ext cx="0" cy="0"/>
          </a:xfrm>
          <a:prstGeom prst="line">
            <a:avLst/>
          </a:prstGeom>
          <a:ln w="22225">
            <a:solidFill>
              <a:srgbClr val="1A9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103120" y="2560320"/>
            <a:ext cx="2651760" cy="457200"/>
          </a:xfrm>
          <a:prstGeom prst="line">
            <a:avLst/>
          </a:prstGeom>
          <a:ln w="22225">
            <a:solidFill>
              <a:srgbClr val="1A9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7406640" y="2560320"/>
            <a:ext cx="2651760" cy="457200"/>
          </a:xfrm>
          <a:prstGeom prst="line">
            <a:avLst/>
          </a:prstGeom>
          <a:ln w="22225">
            <a:solidFill>
              <a:srgbClr val="C27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80760" y="4160520"/>
            <a:ext cx="0" cy="502920"/>
          </a:xfrm>
          <a:prstGeom prst="line">
            <a:avLst/>
          </a:prstGeom>
          <a:ln w="22225">
            <a:solidFill>
              <a:srgbClr val="C9D7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57607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BB0C0"/>
                </a:solidFill>
                <a:latin typeface="Calibri"/>
              </a:rPr>
              <a:t>Direct-RF sample paths stay inside each device. The fabric only moves demodulated user-plane,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9BB0C0"/>
                </a:solidFill>
                <a:latin typeface="Calibri"/>
              </a:rPr>
              <a:t>control-plane, and feeder traffic — preserving separate TX/RX silicon for RF isolation.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10528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A93A6"/>
                </a:solidFill>
                <a:latin typeface="Calibri"/>
              </a:rPr>
              <a:t>Altera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510528"/>
            <a:ext cx="4572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7A93A6"/>
                </a:solidFill>
                <a:latin typeface="Calibri"/>
              </a:rPr>
              <a:t>Onboard Router / Switch Fabric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510528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A93A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A9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9144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A9AAB"/>
                </a:solidFill>
                <a:latin typeface="Calibri"/>
              </a:rPr>
              <a:t>ONBOARD FABRIC —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142E44"/>
                </a:solidFill>
                <a:latin typeface="Georgia"/>
              </a:rPr>
              <a:t>Ports, SerDes class, and traffic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3657600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64008" cy="2331720"/>
          </a:xfrm>
          <a:prstGeom prst="rect">
            <a:avLst/>
          </a:prstGeom>
          <a:solidFill>
            <a:srgbClr val="1B3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69848"/>
            <a:ext cx="338328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C1620"/>
                </a:solidFill>
                <a:latin typeface="Calibri"/>
              </a:rPr>
              <a:t>Port groups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RX ports — 4 devices (Beams 1–32)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TX ports — 5 devices (Beams 1–40)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Feeder ports — gateway / TT&amp;C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Control — HPS / management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Logical Clos / crossbar preferred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960120"/>
            <a:ext cx="3657600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960120"/>
            <a:ext cx="64008" cy="2331720"/>
          </a:xfrm>
          <a:prstGeom prst="rect">
            <a:avLst/>
          </a:prstGeom>
          <a:solidFill>
            <a:srgbClr val="0E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069848"/>
            <a:ext cx="338328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C1620"/>
                </a:solidFill>
                <a:latin typeface="Calibri"/>
              </a:rPr>
              <a:t>58 Gbps-class SerDes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Lane class (PAM4), not aggregate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Altera F-tile / equivalent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2–4 lanes per RX/TX device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4–8 lanes to feeder trunk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1+1 / N+1 spare for FDIR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960120"/>
            <a:ext cx="3520440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83879" y="960120"/>
            <a:ext cx="64008" cy="2331720"/>
          </a:xfrm>
          <a:prstGeom prst="rect">
            <a:avLst/>
          </a:prstGeom>
          <a:solidFill>
            <a:srgbClr val="A0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1069848"/>
            <a:ext cx="324612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C1620"/>
                </a:solidFill>
                <a:latin typeface="Calibri"/>
              </a:rPr>
              <a:t>What crosses the fabric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Post-Low-PHY packets / TBs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NOT 64 Gsps ADC/DAC IQ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Beam maps &amp; ACM 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Sync / timing messages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Telemetry &amp; 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747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2E44"/>
                </a:solidFill>
                <a:latin typeface="Calibri"/>
              </a:rPr>
              <a:t>Traffic classes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3794760"/>
          <a:ext cx="111556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91840"/>
                <a:gridCol w="4023360"/>
                <a:gridCol w="2011680"/>
              </a:tblGrid>
              <a:tr h="3886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Content</a:t>
                      </a:r>
                    </a:p>
                  </a:txBody>
                  <a:tcPr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>
                    <a:solidFill>
                      <a:srgbClr val="142E44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C1620"/>
                          </a:solidFill>
                          <a:latin typeface="Calibri"/>
                        </a:rPr>
                        <a:t>User plane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A66"/>
                          </a:solidFill>
                          <a:latin typeface="Calibri"/>
                        </a:rPr>
                        <a:t>RX→TX / RX↔Feeder / Feeder→TX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A66"/>
                          </a:solidFill>
                          <a:latin typeface="Calibri"/>
                        </a:rPr>
                        <a:t>Demodulated packets / transport blocks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A66"/>
                          </a:solidFill>
                          <a:latin typeface="Calibri"/>
                        </a:rPr>
                        <a:t>High, shaped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C1620"/>
                          </a:solidFill>
                          <a:latin typeface="Calibri"/>
                        </a:rPr>
                        <a:t>Control plane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A66"/>
                          </a:solidFill>
                          <a:latin typeface="Calibri"/>
                        </a:rPr>
                        <a:t>Bidirectional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A66"/>
                          </a:solidFill>
                          <a:latin typeface="Calibri"/>
                        </a:rPr>
                        <a:t>Beam maps, ACM, NTN signaling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A66"/>
                          </a:solidFill>
                          <a:latin typeface="Calibri"/>
                        </a:rPr>
                        <a:t>Highest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C1620"/>
                          </a:solidFill>
                          <a:latin typeface="Calibri"/>
                        </a:rPr>
                        <a:t>Sync / timing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A66"/>
                          </a:solidFill>
                          <a:latin typeface="Calibri"/>
                        </a:rPr>
                        <a:t>Fabric-wide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A66"/>
                          </a:solidFill>
                          <a:latin typeface="Calibri"/>
                        </a:rPr>
                        <a:t>Schedules, timing packets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A66"/>
                          </a:solidFill>
                          <a:latin typeface="Calibri"/>
                        </a:rPr>
                        <a:t>Reserved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C1620"/>
                          </a:solidFill>
                          <a:latin typeface="Calibri"/>
                        </a:rPr>
                        <a:t>Telemetry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A66"/>
                          </a:solidFill>
                          <a:latin typeface="Calibri"/>
                        </a:rPr>
                        <a:t>Devices → Feeder / HPS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A66"/>
                          </a:solidFill>
                          <a:latin typeface="Calibri"/>
                        </a:rPr>
                        <a:t>BER, thermal, HPS logs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A66"/>
                          </a:solidFill>
                          <a:latin typeface="Calibri"/>
                        </a:rPr>
                        <a:t>Best effort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C1620"/>
                          </a:solidFill>
                          <a:latin typeface="Calibri"/>
                        </a:rPr>
                        <a:t>Multicast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A66"/>
                          </a:solidFill>
                          <a:latin typeface="Calibri"/>
                        </a:rPr>
                        <a:t>Fabric → TX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A66"/>
                          </a:solidFill>
                          <a:latin typeface="Calibri"/>
                        </a:rPr>
                        <a:t>Broadcast / group beams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5A66"/>
                          </a:solidFill>
                          <a:latin typeface="Calibri"/>
                        </a:rPr>
                        <a:t>Configurable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6" name="Picture 15" descr="alte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510528"/>
            <a:ext cx="622747" cy="1828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71600" y="6510528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7080"/>
                </a:solidFill>
                <a:latin typeface="Calibri"/>
              </a:rPr>
              <a:t>Altera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510528"/>
            <a:ext cx="4572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A7080"/>
                </a:solidFill>
                <a:latin typeface="Calibri"/>
              </a:rPr>
              <a:t>Onboard Router / Switch Fabric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10528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70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27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9144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2772A"/>
                </a:solidFill>
                <a:latin typeface="Calibri"/>
              </a:rPr>
              <a:t>ONBOARD FABRIC —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142E44"/>
                </a:solidFill>
                <a:latin typeface="Georgia"/>
              </a:rPr>
              <a:t>Switching functions and control plane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361188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64008" cy="1965960"/>
          </a:xfrm>
          <a:prstGeom prst="rect">
            <a:avLst/>
          </a:prstGeom>
          <a:solidFill>
            <a:srgbClr val="1B3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69848"/>
            <a:ext cx="33375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C1620"/>
                </a:solidFill>
                <a:latin typeface="Calibri"/>
              </a:rPr>
              <a:t>UL→DL cross-connect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Regenerative beam-to-beam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forwarding after Low-PHY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Mesh across color reuse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960120"/>
            <a:ext cx="361188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960120"/>
            <a:ext cx="64008" cy="1965960"/>
          </a:xfrm>
          <a:prstGeom prst="rect">
            <a:avLst/>
          </a:prstGeom>
          <a:solidFill>
            <a:srgbClr val="0E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069848"/>
            <a:ext cx="33375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C1620"/>
                </a:solidFill>
                <a:latin typeface="Calibri"/>
              </a:rPr>
              <a:t>Feeder gateway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Concentrate user traffic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to/from ground modem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Often fattest trunk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960120"/>
            <a:ext cx="361188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960120"/>
            <a:ext cx="64008" cy="1965960"/>
          </a:xfrm>
          <a:prstGeom prst="rect">
            <a:avLst/>
          </a:prstGeom>
          <a:solidFill>
            <a:srgbClr val="1B3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069848"/>
            <a:ext cx="33375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C1620"/>
                </a:solidFill>
                <a:latin typeface="Calibri"/>
              </a:rPr>
              <a:t>Beam remap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Update forwarding tables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on steer / recolor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Aligns with DBFN maps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08960"/>
            <a:ext cx="361188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108960"/>
            <a:ext cx="64008" cy="1965960"/>
          </a:xfrm>
          <a:prstGeom prst="rect">
            <a:avLst/>
          </a:prstGeom>
          <a:solidFill>
            <a:srgbClr val="A0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18688"/>
            <a:ext cx="33375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C1620"/>
                </a:solidFill>
                <a:latin typeface="Calibri"/>
              </a:rPr>
              <a:t>FDIR / spare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Steer around failed device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Use TX Device 5 spare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in DVB-S2X-only mode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108960"/>
            <a:ext cx="361188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108960"/>
            <a:ext cx="64008" cy="1965960"/>
          </a:xfrm>
          <a:prstGeom prst="rect">
            <a:avLst/>
          </a:prstGeom>
          <a:solidFill>
            <a:srgbClr val="1B3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218688"/>
            <a:ext cx="33375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C1620"/>
                </a:solidFill>
                <a:latin typeface="Calibri"/>
              </a:rPr>
              <a:t>Replication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1:N broadcast / NTN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SIB-like content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Ephemeris floods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108960"/>
            <a:ext cx="361188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3108960"/>
            <a:ext cx="64008" cy="1965960"/>
          </a:xfrm>
          <a:prstGeom prst="rect">
            <a:avLst/>
          </a:prstGeom>
          <a:solidFill>
            <a:srgbClr val="A0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3218688"/>
            <a:ext cx="33375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C1620"/>
                </a:solidFill>
                <a:latin typeface="Calibri"/>
              </a:rPr>
              <a:t>RF isolation keep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TX/RX silicon stay split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Only digital meets here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Cleanest TX→RX isolation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349240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A5A66"/>
                </a:solidFill>
                <a:latin typeface="Calibri"/>
              </a:rPr>
              <a:t>Control plane: each device HPS (Arm Cortex-A53) owns local config; fabric controller owns route/beam tables,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A5A66"/>
                </a:solidFill>
                <a:latin typeface="Calibri"/>
              </a:rPr>
              <a:t>SerDes health, and FDIR. Same logical fabric ports apply to Option A (AGRW SoC) and Option B (Agilex 7 + AFE7950).</a:t>
            </a:r>
          </a:p>
        </p:txBody>
      </p:sp>
      <p:pic>
        <p:nvPicPr>
          <p:cNvPr id="24" name="Picture 23" descr="alte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510528"/>
            <a:ext cx="622747" cy="1828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71600" y="6510528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7080"/>
                </a:solidFill>
                <a:latin typeface="Calibri"/>
              </a:rPr>
              <a:t>Altera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510528"/>
            <a:ext cx="4572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A7080"/>
                </a:solidFill>
                <a:latin typeface="Calibri"/>
              </a:rPr>
              <a:t>Onboard Router / Switch Fabric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510528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70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7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9144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A7DB0"/>
                </a:solidFill>
                <a:latin typeface="Calibri"/>
              </a:rPr>
              <a:t>ONBOARD FABRIC — SIZING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142E44"/>
                </a:solidFill>
                <a:latin typeface="Georgia"/>
              </a:rPr>
              <a:t>Example SerDes lane plan (Direct-RF SoC option)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A5A66"/>
                </a:solidFill>
                <a:latin typeface="Calibri"/>
              </a:rPr>
              <a:t>Illustrative starting point — close after traffic engineering (modulation, coding, duty cycle, overbooking).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11155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194560"/>
                <a:gridCol w="2560320"/>
                <a:gridCol w="3291840"/>
              </a:tblGrid>
              <a:tr h="5181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Link</a:t>
                      </a:r>
                    </a:p>
                  </a:txBody>
                  <a:tcPr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Suggested lanes</a:t>
                      </a:r>
                    </a:p>
                  </a:txBody>
                  <a:tcPr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Approx capacity class</a:t>
                      </a:r>
                    </a:p>
                  </a:txBody>
                  <a:tcPr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142E44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C1620"/>
                          </a:solidFill>
                          <a:latin typeface="Calibri"/>
                        </a:rPr>
                        <a:t>Each RX device ↔ fabric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5A66"/>
                          </a:solidFill>
                          <a:latin typeface="Calibri"/>
                        </a:rPr>
                        <a:t>2–4 × 58G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5A66"/>
                          </a:solidFill>
                          <a:latin typeface="Calibri"/>
                        </a:rPr>
                        <a:t>~100–200 Gbps raw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5A66"/>
                          </a:solidFill>
                          <a:latin typeface="Calibri"/>
                        </a:rPr>
                        <a:t>Post-Low-PHY UL +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C1620"/>
                          </a:solidFill>
                          <a:latin typeface="Calibri"/>
                        </a:rPr>
                        <a:t>Each TX device ↔ fabric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5A66"/>
                          </a:solidFill>
                          <a:latin typeface="Calibri"/>
                        </a:rPr>
                        <a:t>2–4 × 58G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5A66"/>
                          </a:solidFill>
                          <a:latin typeface="Calibri"/>
                        </a:rPr>
                        <a:t>~100–200 Gbps raw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5A66"/>
                          </a:solidFill>
                          <a:latin typeface="Calibri"/>
                        </a:rPr>
                        <a:t>DL framer input + replication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C1620"/>
                          </a:solidFill>
                          <a:latin typeface="Calibri"/>
                        </a:rPr>
                        <a:t>Fabric ↔ feeder stage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5A66"/>
                          </a:solidFill>
                          <a:latin typeface="Calibri"/>
                        </a:rPr>
                        <a:t>4–8 × 58G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5A66"/>
                          </a:solidFill>
                          <a:latin typeface="Calibri"/>
                        </a:rPr>
                        <a:t>~200–400 Gbps raw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5A66"/>
                          </a:solidFill>
                          <a:latin typeface="Calibri"/>
                        </a:rPr>
                        <a:t>Gateway aggregate + protect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C1620"/>
                          </a:solidFill>
                          <a:latin typeface="Calibri"/>
                        </a:rPr>
                        <a:t>Control / debug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5A66"/>
                          </a:solidFill>
                          <a:latin typeface="Calibri"/>
                        </a:rPr>
                        <a:t>1–2 × lower-rate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5A66"/>
                          </a:solidFill>
                          <a:latin typeface="Calibri"/>
                        </a:rPr>
                        <a:t>Mgmt Ethernet / PCIe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5A66"/>
                          </a:solidFill>
                          <a:latin typeface="Calibri"/>
                        </a:rPr>
                        <a:t>Out-of-band OK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C1620"/>
                          </a:solidFill>
                          <a:latin typeface="Calibri"/>
                        </a:rPr>
                        <a:t>Aggregate (order)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5A6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5A66"/>
                          </a:solidFill>
                          <a:latin typeface="Calibri"/>
                        </a:rPr>
                        <a:t>Multi-100G fabric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5A66"/>
                          </a:solidFill>
                          <a:latin typeface="Calibri"/>
                        </a:rPr>
                        <a:t>Efficiency &lt; line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617720"/>
            <a:ext cx="548640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617720"/>
            <a:ext cx="64008" cy="1600200"/>
          </a:xfrm>
          <a:prstGeom prst="rect">
            <a:avLst/>
          </a:prstGeom>
          <a:solidFill>
            <a:srgbClr val="0E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727448"/>
            <a:ext cx="52120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C1620"/>
                </a:solidFill>
                <a:latin typeface="Calibri"/>
              </a:rPr>
              <a:t>Bandwidth reminder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Fabric carries post-demod bits, not 64 Gsps samples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Size for peak ACM + ~20–40% overhead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Feeder trunk often dominates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617720"/>
            <a:ext cx="544068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4617720"/>
            <a:ext cx="64008" cy="1600200"/>
          </a:xfrm>
          <a:prstGeom prst="rect">
            <a:avLst/>
          </a:prstGeom>
          <a:solidFill>
            <a:srgbClr val="A0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727448"/>
            <a:ext cx="51663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C1620"/>
                </a:solidFill>
                <a:latin typeface="Calibri"/>
              </a:rPr>
              <a:t>Option B (Agilex 7 + TI)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Same logical ports: 4 RX + 5 TX + feeder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SerDes from each Agilex 7 into fabric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JESD204C stays local FPGA↔AFE7950</a:t>
            </a:r>
          </a:p>
        </p:txBody>
      </p:sp>
      <p:pic>
        <p:nvPicPr>
          <p:cNvPr id="13" name="Picture 12" descr="alte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510528"/>
            <a:ext cx="622747" cy="182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71600" y="6510528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7080"/>
                </a:solidFill>
                <a:latin typeface="Calibri"/>
              </a:rPr>
              <a:t>Altera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510528"/>
            <a:ext cx="4572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A7080"/>
                </a:solidFill>
                <a:latin typeface="Calibri"/>
              </a:rPr>
              <a:t>Onboard Router / Switch Fabric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0528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70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