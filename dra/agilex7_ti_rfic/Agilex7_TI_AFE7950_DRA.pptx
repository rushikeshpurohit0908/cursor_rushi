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8A0B0"/>
                </a:solidFill>
                <a:latin typeface="Calibri"/>
              </a:rPr>
              <a:t>ALTERA AGILEX 7  +  TEXAS INSTRUMENTS AFE7950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Georgia"/>
              </a:rPr>
              <a:t>Discrete RFIC + FPGA</a:t>
            </a:r>
          </a:p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Georgia"/>
              </a:rPr>
              <a:t>DRA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BB0C0"/>
                </a:solidFill>
                <a:latin typeface="Calibri"/>
              </a:rPr>
              <a:t>Ku-band uplink &amp; downlink with JESD204C interconnect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9BB0C0"/>
                </a:solidFill>
                <a:latin typeface="Calibri"/>
              </a:rPr>
              <a:t>9x Agilex 7  |  18x AFE7950  |  Separate RX / TX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A93A6"/>
                </a:solidFill>
                <a:latin typeface="Calibri"/>
              </a:rPr>
              <a:t>Alternative to Direct-RF SoC: RF sampling in TI RFIC, beamforming/PHY in Agilex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8A0B0"/>
                </a:solidFill>
                <a:latin typeface="Calibri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2E44"/>
                </a:solidFill>
                <a:latin typeface="Georgia"/>
              </a:rPr>
              <a:t>Split roles: RFIC converts, FPGA computes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A66"/>
                </a:solidFill>
                <a:latin typeface="Calibri"/>
              </a:rPr>
              <a:t>Same 32/40 beam DRA map as the Direct-RF option — different silicon partition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45920"/>
            <a:ext cx="73152" cy="4206240"/>
          </a:xfrm>
          <a:prstGeom prst="rect">
            <a:avLst/>
          </a:prstGeom>
          <a:solidFill>
            <a:srgbClr val="1E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92224"/>
            <a:ext cx="32461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TI AFE7950 RFIC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4 TX + 4 RX (+2 feedback)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12 GSPS DAC / 3 GSPS ADC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Integrated DUC / DDC / NCO / DSA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RF coverage to 12 GHz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JESD204B/C Subclass-1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Space path: AFE7950-SP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73152" cy="420624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92224"/>
            <a:ext cx="32461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Altera Agilex 7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Digital beamforming network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UL channelizer / PHY framer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DVB-RCS2 / DVB-S2X / NTN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High-speed SerDes (JESD)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HPS control &amp; telemetry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Cluster phase / SYSREF 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45920"/>
            <a:ext cx="37947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645920"/>
            <a:ext cx="73152" cy="4206240"/>
          </a:xfrm>
          <a:prstGeom prst="rect">
            <a:avLst/>
          </a:prstGeom>
          <a:solidFill>
            <a:srgbClr val="1B3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1792224"/>
            <a:ext cx="34747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Slot model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1x Agilex 7 + 2x AFE7950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8 RF channels per slot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RX: 4 slots (32 beams)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TX: 5 slots (40 beams)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Shared LO / SYSREF tree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Router fabric between sides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215" y="164592"/>
            <a:ext cx="9295263" cy="65288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8A0B0"/>
                </a:solidFill>
                <a:latin typeface="Calibri"/>
              </a:rPr>
              <a:t>RX UPLINK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2E44"/>
                </a:solidFill>
                <a:latin typeface="Georgia"/>
              </a:rPr>
              <a:t>14.0–14.5 GHz · 32 beams · Super-het into 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A66"/>
                </a:solidFill>
                <a:latin typeface="Calibri"/>
              </a:rPr>
              <a:t>Antenna → LNA → Ku→IF mixer → 8× AFE7950 → JESD204C → 4× Agilex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E6F3F5"/>
          </a:solidFill>
          <a:ln w="12700"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783080"/>
            <a:ext cx="254203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FPGA 1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2× AFE · Beams 1–8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9164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E6F3F5"/>
          </a:solidFill>
          <a:ln w="12700"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8144" y="1783080"/>
            <a:ext cx="254203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FPGA 2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2× AFE · Beams 9–16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E6F3F5"/>
          </a:solidFill>
          <a:ln w="12700"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7064" y="1783080"/>
            <a:ext cx="254203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FPGA 3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2× AFE · Beams 17–24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9164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E6F3F5"/>
          </a:solidFill>
          <a:ln w="12700"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1783080"/>
            <a:ext cx="254203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FPGA 4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2× AFE · Beams 25–32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5394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017520"/>
            <a:ext cx="73152" cy="3108960"/>
          </a:xfrm>
          <a:prstGeom prst="rect">
            <a:avLst/>
          </a:prstGeom>
          <a:solidFill>
            <a:srgbClr val="0E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163824"/>
            <a:ext cx="50749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Why super-het on RX?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AFE7950 RF input tops out near 12 GHz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Ku uplink (14.0–14.5) mixes to IF (~8 GHz class)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LO from LMX2615-SP / LMX2820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AFE handles ADC + DDC/NCO/DSA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Agilex 7 runs DBFN + channelizer + Low-PHY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017520"/>
            <a:ext cx="5394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017520"/>
            <a:ext cx="73152" cy="310896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163824"/>
            <a:ext cx="50749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FPGA DSP (per slot)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Digital beamforming: 4-color reuse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8-way spatial reuse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UL channelizer: 4 × 125 MHz / beam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Handoff: DVB-RCS2 / 3GPP-NTN Low-PHY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Egress to onboard router fabric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8A0B0"/>
                </a:solidFill>
                <a:latin typeface="Calibri"/>
              </a:rPr>
              <a:t>TX DOWNLINK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2E44"/>
                </a:solidFill>
                <a:latin typeface="Georgia"/>
              </a:rPr>
              <a:t>10.7–12.75 GHz · 40 / 32 beams · RF DAC + optional upconvert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A66"/>
                </a:solidFill>
                <a:latin typeface="Calibri"/>
              </a:rPr>
              <a:t>5× Agilex 7 → JESD204C → 10× AFE7950 → HPA → Antenna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7EEE2"/>
          </a:solidFill>
          <a:ln w="12700"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783080"/>
            <a:ext cx="19933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FPGA 1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Beams 1–8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69164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7EEE2"/>
          </a:solidFill>
          <a:ln w="12700"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9504" y="1783080"/>
            <a:ext cx="19933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FPGA 2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Beams 9–16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69164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7EEE2"/>
          </a:solidFill>
          <a:ln w="12700"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9784" y="1783080"/>
            <a:ext cx="19933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FPGA 3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Beams 17–24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69164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7EEE2"/>
          </a:solidFill>
          <a:ln w="12700"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4" y="1783080"/>
            <a:ext cx="19933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FPGA 4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Beams 25–32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69164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7EEE2"/>
          </a:solidFill>
          <a:ln w="12700">
            <a:solidFill>
              <a:srgbClr val="1A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0344" y="1783080"/>
            <a:ext cx="19933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C1620"/>
                </a:solidFill>
                <a:latin typeface="Calibri"/>
              </a:rPr>
              <a:t>FPGA 5 *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4A5A66"/>
                </a:solidFill>
                <a:latin typeface="Calibri"/>
              </a:rPr>
              <a:t>Beams 33–40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971800"/>
            <a:ext cx="539496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971800"/>
            <a:ext cx="73152" cy="3154680"/>
          </a:xfrm>
          <a:prstGeom prst="rect">
            <a:avLst/>
          </a:prstGeom>
          <a:solidFill>
            <a:srgbClr val="A0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118104"/>
            <a:ext cx="5074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RF transmit path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AFE7950 12 GSPS DAC covers much of Ku DL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Direct RF TX up to ~12 GHz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Optional IF→Ku for 12.0–12.75 GHz edge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TX DSA + external HPA front-end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* DVB-S2X-only: idle beams 33–40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971800"/>
            <a:ext cx="539496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971800"/>
            <a:ext cx="73152" cy="315468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118104"/>
            <a:ext cx="5074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FPGA DSP (per slot)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DVB-S2X / 3GPP-NTN Low-PHY framer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DBFN: 4-color · 8–10 way spatial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Baseband / IQ to AFE over JESD204C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AFE integrates DUC + RF DAC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2× AFE7950 = 8 DAC channels / slot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8A0B0"/>
                </a:solidFill>
                <a:latin typeface="Calibri"/>
              </a:rPr>
              <a:t>INTERCONNECT &amp;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2E44"/>
                </a:solidFill>
                <a:latin typeface="Georgia"/>
              </a:rPr>
              <a:t>JESD204C, SYSREF, and fabric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45920"/>
            <a:ext cx="73152" cy="4206240"/>
          </a:xfrm>
          <a:prstGeom prst="rect">
            <a:avLst/>
          </a:prstGeom>
          <a:solidFill>
            <a:srgbClr val="1E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92224"/>
            <a:ext cx="32461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JESD204C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Subclass-1 deterministic latency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AFE7950 ↔ Agilex 7 SerDes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8b/10b or 64b/66b modes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Per-slot multi-lane links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Scales with channel BW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73152" cy="420624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792224"/>
            <a:ext cx="32461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Coherent array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Shared SYSREF distribution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Common LO / sample clock tree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LMX2615-SP or LMX2820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Multi-device phase alignment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Required for DBFN spatial reuse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645920"/>
            <a:ext cx="37947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1645920"/>
            <a:ext cx="73152" cy="4206240"/>
          </a:xfrm>
          <a:prstGeom prst="rect">
            <a:avLst/>
          </a:prstGeom>
          <a:solidFill>
            <a:srgbClr val="1B3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1792224"/>
            <a:ext cx="34747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C1620"/>
                </a:solidFill>
                <a:latin typeface="Calibri"/>
              </a:rPr>
              <a:t>Router fabric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Bridges RX Low-PHY → TX framer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Feeder-link stage attach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58 Gbps-class SerDes links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Keeps RX/TX clusters isolated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A66"/>
                </a:solidFill>
                <a:latin typeface="Calibri"/>
              </a:rPr>
              <a:t>Control plane via FPGA HPS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8A0B0"/>
                </a:solidFill>
                <a:latin typeface="Calibri"/>
              </a:rPr>
              <a:t>ARCHITECTURE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2E44"/>
                </a:solidFill>
                <a:latin typeface="Georgia"/>
              </a:rPr>
              <a:t>Direct-RF SoC vs Agilex 7 + TI RFIC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55448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89120"/>
                <a:gridCol w="438912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Direct-RF SoC (AGRW)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Agilex 7 + AFE7950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RF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On-chip Direct-RF ADC/DAC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TI AFE7950 RFIC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Digital DSP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Same device as converters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Agilex 7 FPGA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RX @ 14 GHz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1st Nyquist Direct-RF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Ku→IF super-het + AFE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TX @ Ku DL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Direct-RF DAC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RF DAC (+ opt. upconvert)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Interconnect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On-chip / SerDes fabric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JESD204C + fabric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Device count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9 RF SoCs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9 FPGA + 18 RFIC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Flexibility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Integrated 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Multi-vendor / SP grade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8A0B0"/>
                </a:solidFill>
                <a:latin typeface="Calibri"/>
              </a:rPr>
              <a:t>BOM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42E44"/>
                </a:solidFill>
                <a:latin typeface="Georgia"/>
              </a:rPr>
              <a:t>Conservative separate TX/RX path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55448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548640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42E4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Agilex 7 (RX)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8 beams each via 2× AFE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Agilex 7 (TX)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FPGA 5 optional in DVB-S2X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AFE7950 (RX)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4 RX ch × 8 = 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AFE7950 (TX)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4 TX ch × 10 = 40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LMX2615-SP / LMX2820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LO + SYSREF 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Ku→IF mixers (RX)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32 paths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Super-het front-end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620"/>
                          </a:solidFill>
                          <a:latin typeface="Calibri"/>
                        </a:rPr>
                        <a:t>HPA / LNA 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A5A66"/>
                          </a:solidFill>
                          <a:latin typeface="Calibri"/>
                        </a:rPr>
                        <a:t>Per-beam RF front-end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7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920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8A0B0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317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FFFFFF"/>
                </a:solidFill>
                <a:latin typeface="Georgia"/>
              </a:rPr>
              <a:t>Agilex 7 digital fabric</a:t>
            </a:r>
          </a:p>
          <a:p>
            <a:pPr algn="l">
              <a:spcAft>
                <a:spcPts val="400"/>
              </a:spcAft>
            </a:pPr>
            <a:r>
              <a:rPr sz="3200" b="0">
                <a:solidFill>
                  <a:srgbClr val="FFFFFF"/>
                </a:solidFill>
                <a:latin typeface="Georgia"/>
              </a:rPr>
              <a:t>meets TI RF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BB0C0"/>
                </a:solidFill>
                <a:latin typeface="Calibri"/>
              </a:rPr>
              <a:t>32-beam Ku UL (super-het) + 40/32-beam Ku DL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BB0C0"/>
                </a:solidFill>
                <a:latin typeface="Calibri"/>
              </a:rPr>
              <a:t>JESD204C slot model: 1 FPGA + 2 AFE7950 = 8 channels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BB0C0"/>
                </a:solidFill>
                <a:latin typeface="Calibri"/>
              </a:rPr>
              <a:t>Space-ready path via AFE7950-SP + LMX2615-SP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