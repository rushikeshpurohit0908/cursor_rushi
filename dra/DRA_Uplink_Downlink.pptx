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9AAB"/>
                </a:solidFill>
                <a:latin typeface="Calibri"/>
              </a:rPr>
              <a:t>ALTERA · SPACE / NTN PAYLOAD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Georgia"/>
              </a:rPr>
              <a:t>RX / TX Direct Radiating Array</a:t>
            </a:r>
          </a:p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Georgia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BB0C0"/>
                </a:solidFill>
                <a:latin typeface="Calibri"/>
              </a:rPr>
              <a:t>Ku-band uplink &amp; downlink · AGRW027/039 device clusters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9BB0C0"/>
                </a:solidFill>
                <a:latin typeface="Calibri"/>
              </a:rPr>
              <a:t>Direct-RF 64 Gsps · Digital beamforming · 58 Gbps SerDes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03504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A93A6"/>
                </a:solidFill>
                <a:latin typeface="Calibri"/>
              </a:rPr>
              <a:t>Conservative option: physically separate TX / RX silicon paths (9 devices)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9AAB"/>
                </a:solidFill>
                <a:latin typeface="Calibri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142E44"/>
                </a:solidFill>
                <a:latin typeface="Georgia"/>
              </a:rPr>
              <a:t>End-to-end DRA payload signal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A66"/>
                </a:solidFill>
                <a:latin typeface="Calibri"/>
              </a:rPr>
              <a:t>Antenna → RF front-end → device cluster DSP → router fabric → opposite-side 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73152" cy="2103120"/>
          </a:xfrm>
          <a:prstGeom prst="rect">
            <a:avLst/>
          </a:prstGeom>
          <a:solidFill>
            <a:srgbClr val="0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37944"/>
            <a:ext cx="5074920" cy="1874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RX DRA — Uplink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14.0–14.5 GHz, 32 spot beams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4× AGRW027/039 (ADC side)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8 ADC channels / device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DVB-RCS2 / 3GPP-NTN Low-PHY handoff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73152" cy="2103120"/>
          </a:xfrm>
          <a:prstGeom prst="rect">
            <a:avLst/>
          </a:prstGeom>
          <a:solidFill>
            <a:srgbClr val="A0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837944"/>
            <a:ext cx="5074920" cy="1874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TX DRA — Downlink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10.7–12.75 GHz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40 beams (NTN) / 32 (DVB-S2X)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5× AGRW027/039 (DAC side)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DVB-S2X / 3GPP-NTN Low-PHY framer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023360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023360"/>
            <a:ext cx="73152" cy="2194560"/>
          </a:xfrm>
          <a:prstGeom prst="rect">
            <a:avLst/>
          </a:prstGeom>
          <a:solidFill>
            <a:srgbClr val="1B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169664"/>
            <a:ext cx="1065276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Onboard Router / Switch Fabric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58 Gbps SerDes interconnect between device clusters and Feeder-link stage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Bridges uplink Low-PHY handoff to downlink framer / beamforming path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Supports coherent multi-device operation with phase-sync IP across the cluster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218" y="182880"/>
            <a:ext cx="9443258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9AAB"/>
                </a:solidFill>
                <a:latin typeface="Calibri"/>
              </a:rPr>
              <a:t>RX DRA — UPLINK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142E44"/>
                </a:solidFill>
                <a:latin typeface="Georgia"/>
              </a:rPr>
              <a:t>4-device ADC cluster · 32 spot beams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A66"/>
                </a:solidFill>
                <a:latin typeface="Calibri"/>
              </a:rPr>
              <a:t>Antenna / Feed Array → LNA Front-End → RX Device 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E6F3F5"/>
          </a:solidFill>
          <a:ln w="12700">
            <a:solidFill>
              <a:srgbClr val="0E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47088"/>
            <a:ext cx="2505456" cy="10881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Device 1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8 ADC ch · Beams 1–8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73736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E6F3F5"/>
          </a:solidFill>
          <a:ln w="12700">
            <a:solidFill>
              <a:srgbClr val="0E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3864" y="1847088"/>
            <a:ext cx="2505456" cy="10881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Device 2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8 ADC ch · Beams 9–16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3736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E6F3F5"/>
          </a:solidFill>
          <a:ln w="12700">
            <a:solidFill>
              <a:srgbClr val="0E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847088"/>
            <a:ext cx="2505456" cy="10881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Device 3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8 ADC ch · Beams 17–24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3416" y="173736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E6F3F5"/>
          </a:solidFill>
          <a:ln w="12700">
            <a:solidFill>
              <a:srgbClr val="0E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1847088"/>
            <a:ext cx="2505456" cy="10881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Device 4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8 ADC ch · Beams 25–32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E44"/>
                </a:solidFill>
                <a:latin typeface="Calibri"/>
              </a:rPr>
              <a:t>Per-device DSP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3703320"/>
            <a:ext cx="1947672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Direct-RF ADC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64 Gsps · 1st Nyquist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61188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3784" y="3703320"/>
            <a:ext cx="1947672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DDC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Digital downconvert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361188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4" y="3703320"/>
            <a:ext cx="1947672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DBFN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4-color · 8-way spatial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361188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2904" y="3703320"/>
            <a:ext cx="1947672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UL Channelizer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4 × 125 MHz / beam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361188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7464" y="3703320"/>
            <a:ext cx="1947672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Low-PHY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DVB-RCS2 / 3GPP-NTN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29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Front-end: Antenna/Feed Array → LNA → Device cluster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Handoff into onboard router / switch fabric for feeder and TX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9AAB"/>
                </a:solidFill>
                <a:latin typeface="Calibri"/>
              </a:rPr>
              <a:t>TX DRA — DOWNLINK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142E44"/>
                </a:solidFill>
                <a:latin typeface="Georgia"/>
              </a:rPr>
              <a:t>5-device DAC cluster · 40 / 32 spot beams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A66"/>
                </a:solidFill>
                <a:latin typeface="Calibri"/>
              </a:rPr>
              <a:t>Device Cluster → HPA Front-End → Antenna / Feed Array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7EEE2"/>
          </a:solidFill>
          <a:ln w="12700">
            <a:solidFill>
              <a:srgbClr val="A05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47088"/>
            <a:ext cx="1956816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Device 1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8 DAC · Beams 1–8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73736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7EEE2"/>
          </a:solidFill>
          <a:ln w="12700">
            <a:solidFill>
              <a:srgbClr val="A05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847088"/>
            <a:ext cx="1956816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Device 2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8 DAC · Beams 9–16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0056" y="173736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7EEE2"/>
          </a:solidFill>
          <a:ln w="12700">
            <a:solidFill>
              <a:srgbClr val="A05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93208" y="1847088"/>
            <a:ext cx="1956816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Device 3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8 DAC · Beams 17–24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2904" y="173736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7EEE2"/>
          </a:solidFill>
          <a:ln w="12700">
            <a:solidFill>
              <a:srgbClr val="A05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6056" y="1847088"/>
            <a:ext cx="1956816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Device 4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8 DAC · Beams 25–32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45752" y="173736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7EEE2"/>
          </a:solidFill>
          <a:ln w="12700">
            <a:solidFill>
              <a:srgbClr val="A05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18904" y="1847088"/>
            <a:ext cx="1956816" cy="996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C1620"/>
                </a:solidFill>
                <a:latin typeface="Calibri"/>
              </a:rPr>
              <a:t>Device 5 *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A5A66"/>
                </a:solidFill>
                <a:latin typeface="Calibri"/>
              </a:rPr>
              <a:t>8 DAC · Beams 33–40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E44"/>
                </a:solidFill>
                <a:latin typeface="Calibri"/>
              </a:rPr>
              <a:t>Per-device DSP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204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05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611880"/>
            <a:ext cx="2496312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Low-PHY Framer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DVB-S2X / 3GPP-NTN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5204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05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3611880"/>
            <a:ext cx="2496312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DBFN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4-color · 8–10 way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5204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05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3611880"/>
            <a:ext cx="2496312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DUC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Digital upconvert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35204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05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5984" y="3611880"/>
            <a:ext cx="2496312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Direct-RF DAC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64 Gsps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89204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* Device 5 carries 4 spare/idle DAC channels in DVB-S2X-only mode (32 beams)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NTN mode uses full 40-beam map; DVB-S2X-only parks spare channels on Device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9AAB"/>
                </a:solidFill>
                <a:latin typeface="Calibri"/>
              </a:rPr>
              <a:t>DIGITAL SIGNAL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142E44"/>
                </a:solidFill>
                <a:latin typeface="Georgia"/>
              </a:rPr>
              <a:t>Beamforming, reuse, and channelization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A66"/>
                </a:solidFill>
                <a:latin typeface="Calibri"/>
              </a:rPr>
              <a:t>Same 4-color reuse concept on both links; spatial reuse scaled to beam 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73152" cy="4206240"/>
          </a:xfrm>
          <a:prstGeom prst="rect">
            <a:avLst/>
          </a:prstGeom>
          <a:solidFill>
            <a:srgbClr val="0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37944"/>
            <a:ext cx="5074920" cy="3977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Uplink DSP (per RX device)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Direct-RF ADC at 64 Gsps (1st Nyquist sampling)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DDC into digital baseband / IF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Digital Beamforming Network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  · 4-color frequency reuse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  · 8-way spatial reuse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UL channelizer: 4 × 125 MHz per beam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Handoff: DVB-RCS2 or 3GPP-NTN Low-PHY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73152" cy="4206240"/>
          </a:xfrm>
          <a:prstGeom prst="rect">
            <a:avLst/>
          </a:prstGeom>
          <a:solidFill>
            <a:srgbClr val="A0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837944"/>
            <a:ext cx="5074920" cy="3977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Downlink DSP (per TX device)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DVB-S2X / 3GPP-NTN Low-PHY framer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Digital Beamforming Network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  · 4-color frequency reuse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  · 8–10 way spatial reuse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DUC to RF synthesis band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Direct-RF DAC at 64 Gsps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HPA front-end → antenna / feed array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9AAB"/>
                </a:solidFill>
                <a:latin typeface="Calibri"/>
              </a:rPr>
              <a:t>PLATFORM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142E44"/>
                </a:solidFill>
                <a:latin typeface="Georgia"/>
              </a:rPr>
              <a:t>Isolation, compute, and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A66"/>
                </a:solidFill>
                <a:latin typeface="Calibri"/>
              </a:rPr>
              <a:t>Conservative silicon split for RF cleanliness and coherent array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73152" cy="4114800"/>
          </a:xfrm>
          <a:prstGeom prst="rect">
            <a:avLst/>
          </a:prstGeom>
          <a:solidFill>
            <a:srgbClr val="0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37944"/>
            <a:ext cx="324612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TX / RX Isolation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Physically separate silicon &amp; RF paths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9 devices total: 5 TX + 4 RX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Cleanest TX→RX isolation option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Independent ADC vs DAC clusters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73152" cy="4114800"/>
          </a:xfrm>
          <a:prstGeom prst="rect">
            <a:avLst/>
          </a:prstGeom>
          <a:solidFill>
            <a:srgbClr val="1B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37944"/>
            <a:ext cx="324612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Control Plane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Quad-core Arm Cortex-A53 (HPS)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Per-device control &amp; telemetry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Configures DDC/DUC, DBFN, PHY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Health / status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91640"/>
            <a:ext cx="37947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691640"/>
            <a:ext cx="73152" cy="4114800"/>
          </a:xfrm>
          <a:prstGeom prst="rect">
            <a:avLst/>
          </a:prstGeom>
          <a:solidFill>
            <a:srgbClr val="A0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1837944"/>
            <a:ext cx="347472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Phase Sync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Multi-device phase-sync IP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Cluster-wide coherent beamforming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Required for spatial reuse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Aligns ADC/DAC sampling clocks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9AAB"/>
                </a:solidFill>
                <a:latin typeface="Calibri"/>
              </a:rPr>
              <a:t>KEY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142E44"/>
                </a:solidFill>
                <a:latin typeface="Georgia"/>
              </a:rPr>
              <a:t>Quick reference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55448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429768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RX Uplink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TX Downlink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Band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14.0–14.5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10.7–12.75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Beams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32 spot beams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40 (NTN) / 32 (DVB-S2X)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Devices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4 × AGRW027/039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5 × AGRW027/039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Converters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8 ADC ch / device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8 DAC ch / device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Sample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64 Gsps (1st Nyquist)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64 Gsps synthesis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Beamforming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4-color · 8-way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4-color · 8–10 way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Channelization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4 × 125 MHz / beam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Air interface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DVB-RCS2 / 3GPP-NTN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DVB-S2X / 3GPP-NTN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Interconnect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58 Gbps SerDes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58 Gbps SerDes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7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9AA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68880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Georgia"/>
              </a:rPr>
              <a:t>Nine-device DRA payload with</a:t>
            </a:r>
          </a:p>
          <a:p>
            <a:pPr algn="l"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Georgia"/>
              </a:rPr>
              <a:t>separated RX and TX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BB0C0"/>
                </a:solidFill>
                <a:latin typeface="Calibri"/>
              </a:rPr>
              <a:t>32-beam Ku uplink + 40/32-beam Ku downlink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BB0C0"/>
                </a:solidFill>
                <a:latin typeface="Calibri"/>
              </a:rPr>
              <a:t>Direct-RF 64 Gsps ADC/DAC · digital beamforming · 58 Gbps fabric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BB0C0"/>
                </a:solidFill>
                <a:latin typeface="Calibri"/>
              </a:rPr>
              <a:t>Arm HPS control plane · multi-device phase sync for coherent arrays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