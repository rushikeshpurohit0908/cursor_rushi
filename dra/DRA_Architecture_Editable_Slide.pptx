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73152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5FD0E0"/>
                </a:solidFill>
                <a:latin typeface="Calibri"/>
              </a:rPr>
              <a:t>ALTERA  |  SPACE / NTN PAYLOAD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292608"/>
            <a:ext cx="84124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200" b="0">
                <a:solidFill>
                  <a:srgbClr val="F2F6F9"/>
                </a:solidFill>
                <a:latin typeface="Georgia"/>
              </a:rPr>
              <a:t>RX / TX Direct Radiating Array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21792"/>
            <a:ext cx="8229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BB0C0"/>
                </a:solidFill>
                <a:latin typeface="Calibri"/>
              </a:rPr>
              <a:t>AGRW027/039 device clusters  |  Direct-RF 64 Gsps  |  Separate TX/RX silicon paths (9 devices)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281160" y="164592"/>
            <a:ext cx="2651760" cy="658368"/>
          </a:xfrm>
          <a:prstGeom prst="roundRect">
            <a:avLst>
              <a:gd name="adj" fmla="val 8000"/>
            </a:avLst>
          </a:prstGeom>
          <a:solidFill>
            <a:srgbClr val="0E1F2C"/>
          </a:solidFill>
          <a:ln w="12700">
            <a:solidFill>
              <a:srgbClr val="2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464040" y="292608"/>
            <a:ext cx="164592" cy="128016"/>
          </a:xfrm>
          <a:prstGeom prst="rect">
            <a:avLst/>
          </a:prstGeom>
          <a:solidFill>
            <a:srgbClr val="1A9A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92640" y="256032"/>
            <a:ext cx="210312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9BB0C0"/>
                </a:solidFill>
                <a:latin typeface="Calibri"/>
              </a:rPr>
              <a:t>RX Uplink 14.0-14.5 GHz | 32 beams</a:t>
            </a:r>
          </a:p>
        </p:txBody>
      </p:sp>
      <p:sp>
        <p:nvSpPr>
          <p:cNvPr id="8" name="Rectangle 7"/>
          <p:cNvSpPr/>
          <p:nvPr/>
        </p:nvSpPr>
        <p:spPr>
          <a:xfrm>
            <a:off x="9464040" y="502920"/>
            <a:ext cx="164592" cy="128016"/>
          </a:xfrm>
          <a:prstGeom prst="rect">
            <a:avLst/>
          </a:prstGeom>
          <a:solidFill>
            <a:srgbClr val="C27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92640" y="466344"/>
            <a:ext cx="210312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9BB0C0"/>
                </a:solidFill>
                <a:latin typeface="Calibri"/>
              </a:rPr>
              <a:t>TX Downlink 10.7-12.75 GHz | 40/32 beams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6032" y="960120"/>
            <a:ext cx="11676888" cy="2331720"/>
          </a:xfrm>
          <a:prstGeom prst="roundRect">
            <a:avLst>
              <a:gd name="adj" fmla="val 8000"/>
            </a:avLst>
          </a:prstGeom>
          <a:solidFill>
            <a:srgbClr val="0A1A26"/>
          </a:solidFill>
          <a:ln w="15875">
            <a:solidFill>
              <a:srgbClr val="1F4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6032" y="960120"/>
            <a:ext cx="64008" cy="2331720"/>
          </a:xfrm>
          <a:prstGeom prst="rect">
            <a:avLst/>
          </a:prstGeom>
          <a:solidFill>
            <a:srgbClr val="1A9A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024128"/>
            <a:ext cx="274320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5FD0E0"/>
                </a:solidFill>
                <a:latin typeface="Calibri"/>
              </a:rPr>
              <a:t>RX DRA  —  UPLINK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170432"/>
            <a:ext cx="9144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F2F6F9"/>
                </a:solidFill>
                <a:latin typeface="Georgia"/>
              </a:rPr>
              <a:t>14.0–14.5 GHz  ·  32 spot beams  ·  4× AGRW027/039 (ADC side)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508760"/>
            <a:ext cx="1143000" cy="530352"/>
          </a:xfrm>
          <a:prstGeom prst="roundRect">
            <a:avLst>
              <a:gd name="adj" fmla="val 10000"/>
            </a:avLst>
          </a:prstGeom>
          <a:solidFill>
            <a:srgbClr val="123445"/>
          </a:solidFill>
          <a:ln w="12700">
            <a:solidFill>
              <a:srgbClr val="2A7A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3776" y="1563624"/>
            <a:ext cx="1069848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Aft>
                <a:spcPts val="100"/>
              </a:spcAft>
            </a:pPr>
            <a:r>
              <a:rPr sz="900" b="1">
                <a:solidFill>
                  <a:srgbClr val="F2F6F9"/>
                </a:solidFill>
                <a:latin typeface="Calibri"/>
              </a:rPr>
              <a:t>Antenna /</a:t>
            </a:r>
          </a:p>
          <a:p>
            <a:pPr algn="ctr">
              <a:spcAft>
                <a:spcPts val="0"/>
              </a:spcAft>
            </a:pPr>
            <a:r>
              <a:rPr sz="900" b="1">
                <a:solidFill>
                  <a:srgbClr val="F2F6F9"/>
                </a:solidFill>
                <a:latin typeface="Calibri"/>
              </a:rPr>
              <a:t>Feed Array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627632" y="1773936"/>
            <a:ext cx="128016" cy="0"/>
          </a:xfrm>
          <a:prstGeom prst="line">
            <a:avLst/>
          </a:prstGeom>
          <a:ln w="19050">
            <a:solidFill>
              <a:srgbClr val="5FD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ight Arrow 16"/>
          <p:cNvSpPr/>
          <p:nvPr/>
        </p:nvSpPr>
        <p:spPr>
          <a:xfrm>
            <a:off x="1719072" y="1723644"/>
            <a:ext cx="128016" cy="100584"/>
          </a:xfrm>
          <a:prstGeom prst="rightArrow">
            <a:avLst/>
          </a:prstGeom>
          <a:solidFill>
            <a:srgbClr val="5FD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847088" y="1508760"/>
            <a:ext cx="960120" cy="530352"/>
          </a:xfrm>
          <a:prstGeom prst="roundRect">
            <a:avLst>
              <a:gd name="adj" fmla="val 10000"/>
            </a:avLst>
          </a:prstGeom>
          <a:solidFill>
            <a:srgbClr val="123445"/>
          </a:solidFill>
          <a:ln w="12700">
            <a:solidFill>
              <a:srgbClr val="2A7A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883664" y="1563624"/>
            <a:ext cx="886968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Aft>
                <a:spcPts val="100"/>
              </a:spcAft>
            </a:pPr>
            <a:r>
              <a:rPr sz="1000" b="1">
                <a:solidFill>
                  <a:srgbClr val="F2F6F9"/>
                </a:solidFill>
                <a:latin typeface="Calibri"/>
              </a:rPr>
              <a:t>LNA</a:t>
            </a:r>
          </a:p>
          <a:p>
            <a:pPr algn="ctr">
              <a:spcAft>
                <a:spcPts val="0"/>
              </a:spcAft>
            </a:pPr>
            <a:r>
              <a:rPr sz="800" b="0">
                <a:solidFill>
                  <a:srgbClr val="9BB0C0"/>
                </a:solidFill>
                <a:latin typeface="Calibri"/>
              </a:rPr>
              <a:t>Front-End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834640" y="1773936"/>
            <a:ext cx="128016" cy="0"/>
          </a:xfrm>
          <a:prstGeom prst="line">
            <a:avLst/>
          </a:prstGeom>
          <a:ln w="19050">
            <a:solidFill>
              <a:srgbClr val="5FD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ight Arrow 20"/>
          <p:cNvSpPr/>
          <p:nvPr/>
        </p:nvSpPr>
        <p:spPr>
          <a:xfrm>
            <a:off x="2926080" y="1723644"/>
            <a:ext cx="128016" cy="100584"/>
          </a:xfrm>
          <a:prstGeom prst="rightArrow">
            <a:avLst/>
          </a:prstGeom>
          <a:solidFill>
            <a:srgbClr val="5FD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063240" y="1444752"/>
            <a:ext cx="5074920" cy="713232"/>
          </a:xfrm>
          <a:prstGeom prst="roundRect">
            <a:avLst>
              <a:gd name="adj" fmla="val 8000"/>
            </a:avLst>
          </a:prstGeom>
          <a:solidFill>
            <a:srgbClr val="0E2A35"/>
          </a:solidFill>
          <a:ln w="15875">
            <a:solidFill>
              <a:srgbClr val="1A9A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154680" y="1463040"/>
            <a:ext cx="274320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5FD0E0"/>
                </a:solidFill>
                <a:latin typeface="Calibri"/>
              </a:rPr>
              <a:t>RX DEVICE CLUSTER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172968" y="1645920"/>
            <a:ext cx="1143000" cy="438912"/>
          </a:xfrm>
          <a:prstGeom prst="roundRect">
            <a:avLst>
              <a:gd name="adj" fmla="val 12000"/>
            </a:avLst>
          </a:prstGeom>
          <a:solidFill>
            <a:srgbClr val="1548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9544" y="1700784"/>
            <a:ext cx="1069848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Aft>
                <a:spcPts val="100"/>
              </a:spcAft>
            </a:pPr>
            <a:r>
              <a:rPr sz="900" b="1">
                <a:solidFill>
                  <a:srgbClr val="F2F6F9"/>
                </a:solidFill>
                <a:latin typeface="Calibri"/>
              </a:rPr>
              <a:t>Device 1</a:t>
            </a:r>
          </a:p>
          <a:p>
            <a:pPr algn="ctr">
              <a:spcAft>
                <a:spcPts val="0"/>
              </a:spcAft>
            </a:pPr>
            <a:r>
              <a:rPr sz="700" b="0">
                <a:solidFill>
                  <a:srgbClr val="9BB0C0"/>
                </a:solidFill>
                <a:latin typeface="Calibri"/>
              </a:rPr>
              <a:t>8 ADC · Beams 1–8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07408" y="1645920"/>
            <a:ext cx="1143000" cy="438912"/>
          </a:xfrm>
          <a:prstGeom prst="roundRect">
            <a:avLst>
              <a:gd name="adj" fmla="val 12000"/>
            </a:avLst>
          </a:prstGeom>
          <a:solidFill>
            <a:srgbClr val="1548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43984" y="1700784"/>
            <a:ext cx="1069848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Aft>
                <a:spcPts val="100"/>
              </a:spcAft>
            </a:pPr>
            <a:r>
              <a:rPr sz="900" b="1">
                <a:solidFill>
                  <a:srgbClr val="F2F6F9"/>
                </a:solidFill>
                <a:latin typeface="Calibri"/>
              </a:rPr>
              <a:t>Device 2</a:t>
            </a:r>
          </a:p>
          <a:p>
            <a:pPr algn="ctr">
              <a:spcAft>
                <a:spcPts val="0"/>
              </a:spcAft>
            </a:pPr>
            <a:r>
              <a:rPr sz="700" b="0">
                <a:solidFill>
                  <a:srgbClr val="9BB0C0"/>
                </a:solidFill>
                <a:latin typeface="Calibri"/>
              </a:rPr>
              <a:t>8 ADC · Beams 9–16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41848" y="1645920"/>
            <a:ext cx="1143000" cy="438912"/>
          </a:xfrm>
          <a:prstGeom prst="roundRect">
            <a:avLst>
              <a:gd name="adj" fmla="val 12000"/>
            </a:avLst>
          </a:prstGeom>
          <a:solidFill>
            <a:srgbClr val="1548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78424" y="1700784"/>
            <a:ext cx="1069848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Aft>
                <a:spcPts val="100"/>
              </a:spcAft>
            </a:pPr>
            <a:r>
              <a:rPr sz="900" b="1">
                <a:solidFill>
                  <a:srgbClr val="F2F6F9"/>
                </a:solidFill>
                <a:latin typeface="Calibri"/>
              </a:rPr>
              <a:t>Device 3</a:t>
            </a:r>
          </a:p>
          <a:p>
            <a:pPr algn="ctr">
              <a:spcAft>
                <a:spcPts val="0"/>
              </a:spcAft>
            </a:pPr>
            <a:r>
              <a:rPr sz="700" b="0">
                <a:solidFill>
                  <a:srgbClr val="9BB0C0"/>
                </a:solidFill>
                <a:latin typeface="Calibri"/>
              </a:rPr>
              <a:t>8 ADC · Beams 17–24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76288" y="1645920"/>
            <a:ext cx="1143000" cy="438912"/>
          </a:xfrm>
          <a:prstGeom prst="roundRect">
            <a:avLst>
              <a:gd name="adj" fmla="val 12000"/>
            </a:avLst>
          </a:prstGeom>
          <a:solidFill>
            <a:srgbClr val="1548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12864" y="1700784"/>
            <a:ext cx="1069848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Aft>
                <a:spcPts val="100"/>
              </a:spcAft>
            </a:pPr>
            <a:r>
              <a:rPr sz="900" b="1">
                <a:solidFill>
                  <a:srgbClr val="F2F6F9"/>
                </a:solidFill>
                <a:latin typeface="Calibri"/>
              </a:rPr>
              <a:t>Device 4</a:t>
            </a:r>
          </a:p>
          <a:p>
            <a:pPr algn="ctr">
              <a:spcAft>
                <a:spcPts val="0"/>
              </a:spcAft>
            </a:pPr>
            <a:r>
              <a:rPr sz="700" b="0">
                <a:solidFill>
                  <a:srgbClr val="9BB0C0"/>
                </a:solidFill>
                <a:latin typeface="Calibri"/>
              </a:rPr>
              <a:t>8 ADC · Beams 25–32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2267712"/>
            <a:ext cx="365760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9BB0C0"/>
                </a:solidFill>
                <a:latin typeface="Calibri"/>
              </a:rPr>
              <a:t>PER DEVICE DSP PIPELINE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2450592"/>
            <a:ext cx="1417320" cy="457200"/>
          </a:xfrm>
          <a:prstGeom prst="roundRect">
            <a:avLst>
              <a:gd name="adj" fmla="val 10000"/>
            </a:avLst>
          </a:prstGeom>
          <a:solidFill>
            <a:srgbClr val="123445"/>
          </a:solidFill>
          <a:ln w="12700">
            <a:solidFill>
              <a:srgbClr val="2A7A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93776" y="2505456"/>
            <a:ext cx="1344168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Aft>
                <a:spcPts val="100"/>
              </a:spcAft>
            </a:pPr>
            <a:r>
              <a:rPr sz="900" b="1">
                <a:solidFill>
                  <a:srgbClr val="F2F6F9"/>
                </a:solidFill>
                <a:latin typeface="Calibri"/>
              </a:rPr>
              <a:t>Direct-RF ADC</a:t>
            </a:r>
          </a:p>
          <a:p>
            <a:pPr algn="ctr">
              <a:spcAft>
                <a:spcPts val="0"/>
              </a:spcAft>
            </a:pPr>
            <a:r>
              <a:rPr sz="700" b="0">
                <a:solidFill>
                  <a:srgbClr val="9BB0C0"/>
                </a:solidFill>
                <a:latin typeface="Calibri"/>
              </a:rPr>
              <a:t>64 Gsps · 1st Nyquist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1892808" y="2679192"/>
            <a:ext cx="27432" cy="0"/>
          </a:xfrm>
          <a:prstGeom prst="line">
            <a:avLst/>
          </a:prstGeom>
          <a:ln w="19050">
            <a:solidFill>
              <a:srgbClr val="5FD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ight Arrow 35"/>
          <p:cNvSpPr/>
          <p:nvPr/>
        </p:nvSpPr>
        <p:spPr>
          <a:xfrm>
            <a:off x="1883664" y="2628900"/>
            <a:ext cx="128016" cy="100584"/>
          </a:xfrm>
          <a:prstGeom prst="rightArrow">
            <a:avLst/>
          </a:prstGeom>
          <a:solidFill>
            <a:srgbClr val="5FD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2011680" y="2450592"/>
            <a:ext cx="713232" cy="457200"/>
          </a:xfrm>
          <a:prstGeom prst="roundRect">
            <a:avLst>
              <a:gd name="adj" fmla="val 10000"/>
            </a:avLst>
          </a:prstGeom>
          <a:solidFill>
            <a:srgbClr val="123445"/>
          </a:solidFill>
          <a:ln w="12700">
            <a:solidFill>
              <a:srgbClr val="2A7A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048256" y="2505456"/>
            <a:ext cx="64008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2F6F9"/>
                </a:solidFill>
                <a:latin typeface="Calibri"/>
              </a:rPr>
              <a:t>DDC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2743200" y="2679192"/>
            <a:ext cx="45720" cy="0"/>
          </a:xfrm>
          <a:prstGeom prst="line">
            <a:avLst/>
          </a:prstGeom>
          <a:ln w="19050">
            <a:solidFill>
              <a:srgbClr val="5FD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ight Arrow 39"/>
          <p:cNvSpPr/>
          <p:nvPr/>
        </p:nvSpPr>
        <p:spPr>
          <a:xfrm>
            <a:off x="2752344" y="2628900"/>
            <a:ext cx="128016" cy="100584"/>
          </a:xfrm>
          <a:prstGeom prst="rightArrow">
            <a:avLst/>
          </a:prstGeom>
          <a:solidFill>
            <a:srgbClr val="5FD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2880360" y="2450592"/>
            <a:ext cx="1691640" cy="457200"/>
          </a:xfrm>
          <a:prstGeom prst="roundRect">
            <a:avLst>
              <a:gd name="adj" fmla="val 10000"/>
            </a:avLst>
          </a:prstGeom>
          <a:solidFill>
            <a:srgbClr val="123445"/>
          </a:solidFill>
          <a:ln w="12700">
            <a:solidFill>
              <a:srgbClr val="2A7A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916936" y="2505456"/>
            <a:ext cx="1618488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Aft>
                <a:spcPts val="100"/>
              </a:spcAft>
            </a:pPr>
            <a:r>
              <a:rPr sz="900" b="1">
                <a:solidFill>
                  <a:srgbClr val="F2F6F9"/>
                </a:solidFill>
                <a:latin typeface="Calibri"/>
              </a:rPr>
              <a:t>Digital Beamforming</a:t>
            </a:r>
          </a:p>
          <a:p>
            <a:pPr algn="ctr">
              <a:spcAft>
                <a:spcPts val="0"/>
              </a:spcAft>
            </a:pPr>
            <a:r>
              <a:rPr sz="700" b="0">
                <a:solidFill>
                  <a:srgbClr val="9BB0C0"/>
                </a:solidFill>
                <a:latin typeface="Calibri"/>
              </a:rPr>
              <a:t>4-color · 8-way spatial reuse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4590288" y="2679192"/>
            <a:ext cx="54864" cy="0"/>
          </a:xfrm>
          <a:prstGeom prst="line">
            <a:avLst/>
          </a:prstGeom>
          <a:ln w="19050">
            <a:solidFill>
              <a:srgbClr val="5FD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ight Arrow 43"/>
          <p:cNvSpPr/>
          <p:nvPr/>
        </p:nvSpPr>
        <p:spPr>
          <a:xfrm>
            <a:off x="4608576" y="2628900"/>
            <a:ext cx="128016" cy="100584"/>
          </a:xfrm>
          <a:prstGeom prst="rightArrow">
            <a:avLst/>
          </a:prstGeom>
          <a:solidFill>
            <a:srgbClr val="5FD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4736592" y="2450592"/>
            <a:ext cx="1554480" cy="457200"/>
          </a:xfrm>
          <a:prstGeom prst="roundRect">
            <a:avLst>
              <a:gd name="adj" fmla="val 10000"/>
            </a:avLst>
          </a:prstGeom>
          <a:solidFill>
            <a:srgbClr val="123445"/>
          </a:solidFill>
          <a:ln w="12700">
            <a:solidFill>
              <a:srgbClr val="2A7A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773168" y="2505456"/>
            <a:ext cx="1481328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Aft>
                <a:spcPts val="100"/>
              </a:spcAft>
            </a:pPr>
            <a:r>
              <a:rPr sz="900" b="1">
                <a:solidFill>
                  <a:srgbClr val="F2F6F9"/>
                </a:solidFill>
                <a:latin typeface="Calibri"/>
              </a:rPr>
              <a:t>UL Channelizer</a:t>
            </a:r>
          </a:p>
          <a:p>
            <a:pPr algn="ctr">
              <a:spcAft>
                <a:spcPts val="0"/>
              </a:spcAft>
            </a:pPr>
            <a:r>
              <a:rPr sz="700" b="0">
                <a:solidFill>
                  <a:srgbClr val="9BB0C0"/>
                </a:solidFill>
                <a:latin typeface="Calibri"/>
              </a:rPr>
              <a:t>4 × 125 MHz / beam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6309360" y="2679192"/>
            <a:ext cx="73152" cy="0"/>
          </a:xfrm>
          <a:prstGeom prst="line">
            <a:avLst/>
          </a:prstGeom>
          <a:ln w="19050">
            <a:solidFill>
              <a:srgbClr val="5FD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ight Arrow 47"/>
          <p:cNvSpPr/>
          <p:nvPr/>
        </p:nvSpPr>
        <p:spPr>
          <a:xfrm>
            <a:off x="6345936" y="2628900"/>
            <a:ext cx="128016" cy="100584"/>
          </a:xfrm>
          <a:prstGeom prst="rightArrow">
            <a:avLst/>
          </a:prstGeom>
          <a:solidFill>
            <a:srgbClr val="5FD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6473952" y="2450592"/>
            <a:ext cx="1874519" cy="457200"/>
          </a:xfrm>
          <a:prstGeom prst="roundRect">
            <a:avLst>
              <a:gd name="adj" fmla="val 10000"/>
            </a:avLst>
          </a:prstGeom>
          <a:solidFill>
            <a:srgbClr val="123445"/>
          </a:solidFill>
          <a:ln w="12700">
            <a:solidFill>
              <a:srgbClr val="2A7A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510528" y="2505456"/>
            <a:ext cx="1801367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Aft>
                <a:spcPts val="100"/>
              </a:spcAft>
            </a:pPr>
            <a:r>
              <a:rPr sz="900" b="1">
                <a:solidFill>
                  <a:srgbClr val="F2F6F9"/>
                </a:solidFill>
                <a:latin typeface="Calibri"/>
              </a:rPr>
              <a:t>DVB-RCS2 / 3GPP-NTN</a:t>
            </a:r>
          </a:p>
          <a:p>
            <a:pPr algn="ctr">
              <a:spcAft>
                <a:spcPts val="0"/>
              </a:spcAft>
            </a:pPr>
            <a:r>
              <a:rPr sz="700" b="0">
                <a:solidFill>
                  <a:srgbClr val="9BB0C0"/>
                </a:solidFill>
                <a:latin typeface="Calibri"/>
              </a:rPr>
              <a:t>Low-PHY handoff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7200" y="2999232"/>
            <a:ext cx="111556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7A93A6"/>
                </a:solidFill>
                <a:latin typeface="Calibri"/>
              </a:rPr>
              <a:t>Quad-core Arm Cortex-A53 (HPS) per device  ·  Multi-device phase-sync IP for coherent beamforming</a:t>
            </a:r>
          </a:p>
          <a:p>
            <a:pPr algn="l">
              <a:spcAft>
                <a:spcPts val="0"/>
              </a:spcAft>
            </a:pPr>
            <a:r>
              <a:rPr sz="800" b="0">
                <a:solidFill>
                  <a:srgbClr val="7A93A6"/>
                </a:solidFill>
                <a:latin typeface="Calibri"/>
              </a:rPr>
              <a:t>Conservative isolation option: TX and RX on physically separate silicon / RF paths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6080760" y="3291840"/>
            <a:ext cx="0" cy="109728"/>
          </a:xfrm>
          <a:prstGeom prst="line">
            <a:avLst/>
          </a:prstGeom>
          <a:ln w="22225">
            <a:solidFill>
              <a:srgbClr val="C9D7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Down Arrow 52"/>
          <p:cNvSpPr/>
          <p:nvPr/>
        </p:nvSpPr>
        <p:spPr>
          <a:xfrm>
            <a:off x="6030468" y="3346704"/>
            <a:ext cx="100584" cy="128016"/>
          </a:xfrm>
          <a:prstGeom prst="downArrow">
            <a:avLst/>
          </a:prstGeom>
          <a:solidFill>
            <a:srgbClr val="C9D7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1920240" y="3493008"/>
            <a:ext cx="8321040" cy="530352"/>
          </a:xfrm>
          <a:prstGeom prst="roundRect">
            <a:avLst>
              <a:gd name="adj" fmla="val 12000"/>
            </a:avLst>
          </a:prstGeom>
          <a:solidFill>
            <a:srgbClr val="1B3F66"/>
          </a:solidFill>
          <a:ln w="15875">
            <a:solidFill>
              <a:srgbClr val="4A7D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011680" y="3547872"/>
            <a:ext cx="813816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Aft>
                <a:spcPts val="200"/>
              </a:spcAft>
            </a:pPr>
            <a:r>
              <a:rPr sz="1400" b="0">
                <a:solidFill>
                  <a:srgbClr val="F2F6F9"/>
                </a:solidFill>
                <a:latin typeface="Georgia"/>
              </a:rPr>
              <a:t>Onboard Router / Switch Fabric</a:t>
            </a:r>
          </a:p>
          <a:p>
            <a:pPr algn="ctr">
              <a:spcAft>
                <a:spcPts val="0"/>
              </a:spcAft>
            </a:pPr>
            <a:r>
              <a:rPr sz="900" b="0">
                <a:solidFill>
                  <a:srgbClr val="B8D0E8"/>
                </a:solidFill>
                <a:latin typeface="Calibri"/>
              </a:rPr>
              <a:t>58 Gbps SerDes interconnect between device clusters and Feeder-link stage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6080760" y="4041648"/>
            <a:ext cx="0" cy="91440"/>
          </a:xfrm>
          <a:prstGeom prst="line">
            <a:avLst/>
          </a:prstGeom>
          <a:ln w="22225">
            <a:solidFill>
              <a:srgbClr val="C9D7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Down Arrow 56"/>
          <p:cNvSpPr/>
          <p:nvPr/>
        </p:nvSpPr>
        <p:spPr>
          <a:xfrm>
            <a:off x="6030468" y="4078224"/>
            <a:ext cx="100584" cy="128016"/>
          </a:xfrm>
          <a:prstGeom prst="downArrow">
            <a:avLst/>
          </a:prstGeom>
          <a:solidFill>
            <a:srgbClr val="C9D7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256032" y="4224528"/>
            <a:ext cx="11676888" cy="2194560"/>
          </a:xfrm>
          <a:prstGeom prst="roundRect">
            <a:avLst>
              <a:gd name="adj" fmla="val 8000"/>
            </a:avLst>
          </a:prstGeom>
          <a:solidFill>
            <a:srgbClr val="1A140C"/>
          </a:solidFill>
          <a:ln w="15875">
            <a:solidFill>
              <a:srgbClr val="5A3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256032" y="4224528"/>
            <a:ext cx="64008" cy="2194560"/>
          </a:xfrm>
          <a:prstGeom prst="rect">
            <a:avLst/>
          </a:prstGeom>
          <a:solidFill>
            <a:srgbClr val="C27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57200" y="4279392"/>
            <a:ext cx="274320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E0A45F"/>
                </a:solidFill>
                <a:latin typeface="Calibri"/>
              </a:rPr>
              <a:t>TX DRA  —  DOWNLINK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57200" y="4425696"/>
            <a:ext cx="1051560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F2F6F9"/>
                </a:solidFill>
                <a:latin typeface="Georgia"/>
              </a:rPr>
              <a:t>10.7–12.75 GHz  ·  40 spot beams (NTN) / 32 (DVB-S2X)  ·  5× AGRW027/039 (DAC side)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57200" y="4709160"/>
            <a:ext cx="3657600" cy="14630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C4A88A"/>
                </a:solidFill>
                <a:latin typeface="Calibri"/>
              </a:rPr>
              <a:t>PER DEVICE DSP PIPELINE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57200" y="4864608"/>
            <a:ext cx="1691640" cy="438912"/>
          </a:xfrm>
          <a:prstGeom prst="roundRect">
            <a:avLst>
              <a:gd name="adj" fmla="val 10000"/>
            </a:avLst>
          </a:prstGeom>
          <a:solidFill>
            <a:srgbClr val="2A1E12"/>
          </a:solidFill>
          <a:ln w="12700">
            <a:solidFill>
              <a:srgbClr val="8A5A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93776" y="4919472"/>
            <a:ext cx="1618488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Aft>
                <a:spcPts val="100"/>
              </a:spcAft>
            </a:pPr>
            <a:r>
              <a:rPr sz="900" b="1">
                <a:solidFill>
                  <a:srgbClr val="F2F6F9"/>
                </a:solidFill>
                <a:latin typeface="Calibri"/>
              </a:rPr>
              <a:t>DVB-S2X / 3GPP-NTN</a:t>
            </a:r>
          </a:p>
          <a:p>
            <a:pPr algn="ctr">
              <a:spcAft>
                <a:spcPts val="0"/>
              </a:spcAft>
            </a:pPr>
            <a:r>
              <a:rPr sz="700" b="0">
                <a:solidFill>
                  <a:srgbClr val="9BB0C0"/>
                </a:solidFill>
                <a:latin typeface="Calibri"/>
              </a:rPr>
              <a:t>Low-PHY framer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2167128" y="5084064"/>
            <a:ext cx="73152" cy="0"/>
          </a:xfrm>
          <a:prstGeom prst="line">
            <a:avLst/>
          </a:prstGeom>
          <a:ln w="19050">
            <a:solidFill>
              <a:srgbClr val="E0A4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Right Arrow 65"/>
          <p:cNvSpPr/>
          <p:nvPr/>
        </p:nvSpPr>
        <p:spPr>
          <a:xfrm>
            <a:off x="2203704" y="5033772"/>
            <a:ext cx="128016" cy="100584"/>
          </a:xfrm>
          <a:prstGeom prst="rightArrow">
            <a:avLst/>
          </a:prstGeom>
          <a:solidFill>
            <a:srgbClr val="E0A4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2331720" y="4864608"/>
            <a:ext cx="1737360" cy="438912"/>
          </a:xfrm>
          <a:prstGeom prst="roundRect">
            <a:avLst>
              <a:gd name="adj" fmla="val 10000"/>
            </a:avLst>
          </a:prstGeom>
          <a:solidFill>
            <a:srgbClr val="2A1E12"/>
          </a:solidFill>
          <a:ln w="12700">
            <a:solidFill>
              <a:srgbClr val="8A5A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368296" y="4919472"/>
            <a:ext cx="1664208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Aft>
                <a:spcPts val="100"/>
              </a:spcAft>
            </a:pPr>
            <a:r>
              <a:rPr sz="900" b="1">
                <a:solidFill>
                  <a:srgbClr val="F2F6F9"/>
                </a:solidFill>
                <a:latin typeface="Calibri"/>
              </a:rPr>
              <a:t>Digital Beamforming</a:t>
            </a:r>
          </a:p>
          <a:p>
            <a:pPr algn="ctr">
              <a:spcAft>
                <a:spcPts val="0"/>
              </a:spcAft>
            </a:pPr>
            <a:r>
              <a:rPr sz="700" b="0">
                <a:solidFill>
                  <a:srgbClr val="9BB0C0"/>
                </a:solidFill>
                <a:latin typeface="Calibri"/>
              </a:rPr>
              <a:t>4-color · 8–10 way spatial reuse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4087368" y="5084064"/>
            <a:ext cx="73152" cy="0"/>
          </a:xfrm>
          <a:prstGeom prst="line">
            <a:avLst/>
          </a:prstGeom>
          <a:ln w="19050">
            <a:solidFill>
              <a:srgbClr val="E0A4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Right Arrow 69"/>
          <p:cNvSpPr/>
          <p:nvPr/>
        </p:nvSpPr>
        <p:spPr>
          <a:xfrm>
            <a:off x="4123944" y="5033772"/>
            <a:ext cx="128016" cy="100584"/>
          </a:xfrm>
          <a:prstGeom prst="rightArrow">
            <a:avLst/>
          </a:prstGeom>
          <a:solidFill>
            <a:srgbClr val="E0A4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4251960" y="4864608"/>
            <a:ext cx="713232" cy="438912"/>
          </a:xfrm>
          <a:prstGeom prst="roundRect">
            <a:avLst>
              <a:gd name="adj" fmla="val 10000"/>
            </a:avLst>
          </a:prstGeom>
          <a:solidFill>
            <a:srgbClr val="2A1E12"/>
          </a:solidFill>
          <a:ln w="12700">
            <a:solidFill>
              <a:srgbClr val="8A5A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288536" y="4919472"/>
            <a:ext cx="64008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2F6F9"/>
                </a:solidFill>
                <a:latin typeface="Calibri"/>
              </a:rPr>
              <a:t>DUC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4983480" y="5084064"/>
            <a:ext cx="91440" cy="0"/>
          </a:xfrm>
          <a:prstGeom prst="line">
            <a:avLst/>
          </a:prstGeom>
          <a:ln w="19050">
            <a:solidFill>
              <a:srgbClr val="E0A4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Right Arrow 73"/>
          <p:cNvSpPr/>
          <p:nvPr/>
        </p:nvSpPr>
        <p:spPr>
          <a:xfrm>
            <a:off x="5038344" y="5033772"/>
            <a:ext cx="128016" cy="100584"/>
          </a:xfrm>
          <a:prstGeom prst="rightArrow">
            <a:avLst/>
          </a:prstGeom>
          <a:solidFill>
            <a:srgbClr val="E0A4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5166360" y="4864608"/>
            <a:ext cx="1554480" cy="438912"/>
          </a:xfrm>
          <a:prstGeom prst="roundRect">
            <a:avLst>
              <a:gd name="adj" fmla="val 10000"/>
            </a:avLst>
          </a:prstGeom>
          <a:solidFill>
            <a:srgbClr val="2A1E12"/>
          </a:solidFill>
          <a:ln w="12700">
            <a:solidFill>
              <a:srgbClr val="8A5A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202936" y="4919472"/>
            <a:ext cx="1481328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Aft>
                <a:spcPts val="100"/>
              </a:spcAft>
            </a:pPr>
            <a:r>
              <a:rPr sz="900" b="1">
                <a:solidFill>
                  <a:srgbClr val="F2F6F9"/>
                </a:solidFill>
                <a:latin typeface="Calibri"/>
              </a:rPr>
              <a:t>Direct-RF DAC</a:t>
            </a:r>
          </a:p>
          <a:p>
            <a:pPr algn="ctr">
              <a:spcAft>
                <a:spcPts val="0"/>
              </a:spcAft>
            </a:pPr>
            <a:r>
              <a:rPr sz="700" b="0">
                <a:solidFill>
                  <a:srgbClr val="9BB0C0"/>
                </a:solidFill>
                <a:latin typeface="Calibri"/>
              </a:rPr>
              <a:t>64 Gsps synthesis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457200" y="5440680"/>
            <a:ext cx="8092440" cy="658368"/>
          </a:xfrm>
          <a:prstGeom prst="roundRect">
            <a:avLst>
              <a:gd name="adj" fmla="val 8000"/>
            </a:avLst>
          </a:prstGeom>
          <a:solidFill>
            <a:srgbClr val="24180E"/>
          </a:solidFill>
          <a:ln w="15875">
            <a:solidFill>
              <a:srgbClr val="C27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48640" y="5458968"/>
            <a:ext cx="3657600" cy="14630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E0A45F"/>
                </a:solidFill>
                <a:latin typeface="Calibri"/>
              </a:rPr>
              <a:t>TX DEVICE CLUSTER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566928" y="5623560"/>
            <a:ext cx="1463040" cy="402336"/>
          </a:xfrm>
          <a:prstGeom prst="roundRect">
            <a:avLst>
              <a:gd name="adj" fmla="val 12000"/>
            </a:avLst>
          </a:prstGeom>
          <a:solidFill>
            <a:srgbClr val="3A2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03504" y="5678424"/>
            <a:ext cx="1389888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Aft>
                <a:spcPts val="100"/>
              </a:spcAft>
            </a:pPr>
            <a:r>
              <a:rPr sz="900" b="1">
                <a:solidFill>
                  <a:srgbClr val="F2F6F9"/>
                </a:solidFill>
                <a:latin typeface="Calibri"/>
              </a:rPr>
              <a:t>Device 1</a:t>
            </a:r>
          </a:p>
          <a:p>
            <a:pPr algn="ctr">
              <a:spcAft>
                <a:spcPts val="0"/>
              </a:spcAft>
            </a:pPr>
            <a:r>
              <a:rPr sz="700" b="0">
                <a:solidFill>
                  <a:srgbClr val="9BB0C0"/>
                </a:solidFill>
                <a:latin typeface="Calibri"/>
              </a:rPr>
              <a:t>8 DAC · Beams 1–8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2121408" y="5623560"/>
            <a:ext cx="1463040" cy="402336"/>
          </a:xfrm>
          <a:prstGeom prst="roundRect">
            <a:avLst>
              <a:gd name="adj" fmla="val 12000"/>
            </a:avLst>
          </a:prstGeom>
          <a:solidFill>
            <a:srgbClr val="3A2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157984" y="5678424"/>
            <a:ext cx="1389888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Aft>
                <a:spcPts val="100"/>
              </a:spcAft>
            </a:pPr>
            <a:r>
              <a:rPr sz="900" b="1">
                <a:solidFill>
                  <a:srgbClr val="F2F6F9"/>
                </a:solidFill>
                <a:latin typeface="Calibri"/>
              </a:rPr>
              <a:t>Device 2</a:t>
            </a:r>
          </a:p>
          <a:p>
            <a:pPr algn="ctr">
              <a:spcAft>
                <a:spcPts val="0"/>
              </a:spcAft>
            </a:pPr>
            <a:r>
              <a:rPr sz="700" b="0">
                <a:solidFill>
                  <a:srgbClr val="9BB0C0"/>
                </a:solidFill>
                <a:latin typeface="Calibri"/>
              </a:rPr>
              <a:t>8 DAC · Beams 9–16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3675888" y="5623560"/>
            <a:ext cx="1463040" cy="402336"/>
          </a:xfrm>
          <a:prstGeom prst="roundRect">
            <a:avLst>
              <a:gd name="adj" fmla="val 12000"/>
            </a:avLst>
          </a:prstGeom>
          <a:solidFill>
            <a:srgbClr val="3A2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3712464" y="5678424"/>
            <a:ext cx="1389888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Aft>
                <a:spcPts val="100"/>
              </a:spcAft>
            </a:pPr>
            <a:r>
              <a:rPr sz="900" b="1">
                <a:solidFill>
                  <a:srgbClr val="F2F6F9"/>
                </a:solidFill>
                <a:latin typeface="Calibri"/>
              </a:rPr>
              <a:t>Device 3</a:t>
            </a:r>
          </a:p>
          <a:p>
            <a:pPr algn="ctr">
              <a:spcAft>
                <a:spcPts val="0"/>
              </a:spcAft>
            </a:pPr>
            <a:r>
              <a:rPr sz="700" b="0">
                <a:solidFill>
                  <a:srgbClr val="9BB0C0"/>
                </a:solidFill>
                <a:latin typeface="Calibri"/>
              </a:rPr>
              <a:t>8 DAC · Beams 17–24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5230368" y="5623560"/>
            <a:ext cx="1463040" cy="402336"/>
          </a:xfrm>
          <a:prstGeom prst="roundRect">
            <a:avLst>
              <a:gd name="adj" fmla="val 12000"/>
            </a:avLst>
          </a:prstGeom>
          <a:solidFill>
            <a:srgbClr val="3A2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266944" y="5678424"/>
            <a:ext cx="1389888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Aft>
                <a:spcPts val="100"/>
              </a:spcAft>
            </a:pPr>
            <a:r>
              <a:rPr sz="900" b="1">
                <a:solidFill>
                  <a:srgbClr val="F2F6F9"/>
                </a:solidFill>
                <a:latin typeface="Calibri"/>
              </a:rPr>
              <a:t>Device 4</a:t>
            </a:r>
          </a:p>
          <a:p>
            <a:pPr algn="ctr">
              <a:spcAft>
                <a:spcPts val="0"/>
              </a:spcAft>
            </a:pPr>
            <a:r>
              <a:rPr sz="700" b="0">
                <a:solidFill>
                  <a:srgbClr val="9BB0C0"/>
                </a:solidFill>
                <a:latin typeface="Calibri"/>
              </a:rPr>
              <a:t>8 DAC · Beams 25–32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6784848" y="5623560"/>
            <a:ext cx="1463040" cy="402336"/>
          </a:xfrm>
          <a:prstGeom prst="roundRect">
            <a:avLst>
              <a:gd name="adj" fmla="val 12000"/>
            </a:avLst>
          </a:prstGeom>
          <a:solidFill>
            <a:srgbClr val="3A2814"/>
          </a:solidFill>
          <a:ln w="12700">
            <a:solidFill>
              <a:srgbClr val="E0A45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821424" y="5678424"/>
            <a:ext cx="1389888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Aft>
                <a:spcPts val="100"/>
              </a:spcAft>
            </a:pPr>
            <a:r>
              <a:rPr sz="900" b="1">
                <a:solidFill>
                  <a:srgbClr val="F2F6F9"/>
                </a:solidFill>
                <a:latin typeface="Calibri"/>
              </a:rPr>
              <a:t>Device 5 *</a:t>
            </a:r>
          </a:p>
          <a:p>
            <a:pPr algn="ctr">
              <a:spcAft>
                <a:spcPts val="0"/>
              </a:spcAft>
            </a:pPr>
            <a:r>
              <a:rPr sz="700" b="0">
                <a:solidFill>
                  <a:srgbClr val="9BB0C0"/>
                </a:solidFill>
                <a:latin typeface="Calibri"/>
              </a:rPr>
              <a:t>8 DAC · Beams 33–40</a:t>
            </a:r>
          </a:p>
        </p:txBody>
      </p:sp>
      <p:cxnSp>
        <p:nvCxnSpPr>
          <p:cNvPr id="89" name="Connector 88"/>
          <p:cNvCxnSpPr/>
          <p:nvPr/>
        </p:nvCxnSpPr>
        <p:spPr>
          <a:xfrm>
            <a:off x="8595360" y="5760720"/>
            <a:ext cx="155448" cy="0"/>
          </a:xfrm>
          <a:prstGeom prst="line">
            <a:avLst/>
          </a:prstGeom>
          <a:ln w="19050">
            <a:solidFill>
              <a:srgbClr val="E0A4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Right Arrow 89"/>
          <p:cNvSpPr/>
          <p:nvPr/>
        </p:nvSpPr>
        <p:spPr>
          <a:xfrm>
            <a:off x="8714232" y="5710428"/>
            <a:ext cx="128016" cy="100584"/>
          </a:xfrm>
          <a:prstGeom prst="rightArrow">
            <a:avLst/>
          </a:prstGeom>
          <a:solidFill>
            <a:srgbClr val="E0A4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ounded Rectangle 90"/>
          <p:cNvSpPr/>
          <p:nvPr/>
        </p:nvSpPr>
        <p:spPr>
          <a:xfrm>
            <a:off x="8851392" y="5532120"/>
            <a:ext cx="1051560" cy="502920"/>
          </a:xfrm>
          <a:prstGeom prst="roundRect">
            <a:avLst>
              <a:gd name="adj" fmla="val 10000"/>
            </a:avLst>
          </a:prstGeom>
          <a:solidFill>
            <a:srgbClr val="2A1E12"/>
          </a:solidFill>
          <a:ln w="12700">
            <a:solidFill>
              <a:srgbClr val="8A5A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8887968" y="5586984"/>
            <a:ext cx="978408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Aft>
                <a:spcPts val="100"/>
              </a:spcAft>
            </a:pPr>
            <a:r>
              <a:rPr sz="1000" b="1">
                <a:solidFill>
                  <a:srgbClr val="F2F6F9"/>
                </a:solidFill>
                <a:latin typeface="Calibri"/>
              </a:rPr>
              <a:t>HPA</a:t>
            </a:r>
          </a:p>
          <a:p>
            <a:pPr algn="ctr">
              <a:spcAft>
                <a:spcPts val="0"/>
              </a:spcAft>
            </a:pPr>
            <a:r>
              <a:rPr sz="800" b="0">
                <a:solidFill>
                  <a:srgbClr val="9BB0C0"/>
                </a:solidFill>
                <a:latin typeface="Calibri"/>
              </a:rPr>
              <a:t>Front-End</a:t>
            </a:r>
          </a:p>
        </p:txBody>
      </p:sp>
      <p:cxnSp>
        <p:nvCxnSpPr>
          <p:cNvPr id="93" name="Connector 92"/>
          <p:cNvCxnSpPr/>
          <p:nvPr/>
        </p:nvCxnSpPr>
        <p:spPr>
          <a:xfrm>
            <a:off x="9948672" y="5760720"/>
            <a:ext cx="146304" cy="0"/>
          </a:xfrm>
          <a:prstGeom prst="line">
            <a:avLst/>
          </a:prstGeom>
          <a:ln w="19050">
            <a:solidFill>
              <a:srgbClr val="E0A4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Right Arrow 93"/>
          <p:cNvSpPr/>
          <p:nvPr/>
        </p:nvSpPr>
        <p:spPr>
          <a:xfrm>
            <a:off x="10058400" y="5710428"/>
            <a:ext cx="128016" cy="100584"/>
          </a:xfrm>
          <a:prstGeom prst="rightArrow">
            <a:avLst/>
          </a:prstGeom>
          <a:solidFill>
            <a:srgbClr val="E0A4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ounded Rectangle 94"/>
          <p:cNvSpPr/>
          <p:nvPr/>
        </p:nvSpPr>
        <p:spPr>
          <a:xfrm>
            <a:off x="10195560" y="5532120"/>
            <a:ext cx="1417320" cy="502920"/>
          </a:xfrm>
          <a:prstGeom prst="roundRect">
            <a:avLst>
              <a:gd name="adj" fmla="val 10000"/>
            </a:avLst>
          </a:prstGeom>
          <a:solidFill>
            <a:srgbClr val="2A1E12"/>
          </a:solidFill>
          <a:ln w="12700">
            <a:solidFill>
              <a:srgbClr val="8A5A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10232136" y="5586984"/>
            <a:ext cx="1344168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Aft>
                <a:spcPts val="100"/>
              </a:spcAft>
            </a:pPr>
            <a:r>
              <a:rPr sz="900" b="1">
                <a:solidFill>
                  <a:srgbClr val="F2F6F9"/>
                </a:solidFill>
                <a:latin typeface="Calibri"/>
              </a:rPr>
              <a:t>Antenna /</a:t>
            </a:r>
          </a:p>
          <a:p>
            <a:pPr algn="ctr">
              <a:spcAft>
                <a:spcPts val="0"/>
              </a:spcAft>
            </a:pPr>
            <a:r>
              <a:rPr sz="900" b="1">
                <a:solidFill>
                  <a:srgbClr val="F2F6F9"/>
                </a:solidFill>
                <a:latin typeface="Calibri"/>
              </a:rPr>
              <a:t>Feed Array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57200" y="6172200"/>
            <a:ext cx="111556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A89070"/>
                </a:solidFill>
                <a:latin typeface="Calibri"/>
              </a:rPr>
              <a:t>* Device 5 carries 4 spare/idle DAC channels when operating in DVB-S2X-only mode (32 beams)</a:t>
            </a:r>
          </a:p>
          <a:p>
            <a:pPr algn="l">
              <a:spcAft>
                <a:spcPts val="0"/>
              </a:spcAft>
            </a:pPr>
            <a:r>
              <a:rPr sz="800" b="0">
                <a:solidFill>
                  <a:srgbClr val="A89070"/>
                </a:solidFill>
                <a:latin typeface="Calibri"/>
              </a:rPr>
              <a:t>Total: 9 devices (5 TX + 4 RX)  ·  Cleanest TX→RX isolation  ·  Phase-sync across cluster</a:t>
            </a:r>
          </a:p>
        </p:txBody>
      </p:sp>
      <p:pic>
        <p:nvPicPr>
          <p:cNvPr id="98" name="Picture 97" descr="altera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6510528"/>
            <a:ext cx="685022" cy="201168"/>
          </a:xfrm>
          <a:prstGeom prst="rect">
            <a:avLst/>
          </a:prstGeom>
        </p:spPr>
      </p:pic>
      <p:sp>
        <p:nvSpPr>
          <p:cNvPr id="99" name="TextBox 98"/>
          <p:cNvSpPr txBox="1"/>
          <p:nvPr/>
        </p:nvSpPr>
        <p:spPr>
          <a:xfrm>
            <a:off x="1417320" y="6528816"/>
            <a:ext cx="201168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A7080"/>
                </a:solidFill>
                <a:latin typeface="Calibri"/>
              </a:rPr>
              <a:t>Altera Confidential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3657600" y="6528816"/>
            <a:ext cx="502920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A7080"/>
                </a:solidFill>
                <a:latin typeface="Calibri"/>
              </a:rPr>
              <a:t>AGRW027/039  ·  Ku-band DRA Payload Architecture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9601200" y="6528816"/>
            <a:ext cx="182880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A7080"/>
                </a:solidFill>
                <a:latin typeface="Calibri"/>
              </a:rPr>
              <a:t>Altera Confidential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1475720" y="6528816"/>
            <a:ext cx="45720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5A708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