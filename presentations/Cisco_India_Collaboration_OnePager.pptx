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India Pipe $M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India Pipe $M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Sheet1!$A$2:$A$4</c:f>
              <c:strCache>
                <c:ptCount val="3"/>
                <c:pt idx="0">
                  <c:v>'24</c:v>
                </c:pt>
                <c:pt idx="1">
                  <c:v>'25</c:v>
                </c:pt>
                <c:pt idx="2">
                  <c:v>'26F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1.3</c:v>
                </c:pt>
                <c:pt idx="2">
                  <c:v>1.53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Active Programs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Active Programs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Sheet1!$A$2:$A$4</c:f>
              <c:strCache>
                <c:ptCount val="3"/>
                <c:pt idx="0">
                  <c:v>'24</c:v>
                </c:pt>
                <c:pt idx="1">
                  <c:v>'25</c:v>
                </c:pt>
                <c:pt idx="2">
                  <c:v>'26F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7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DW Claim Path $M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DW Claim Path $M</c:v>
                </c:pt>
              </c:strCache>
            </c:strRef>
          </c:tx>
          <c:spPr>
            <a:solidFill>
              <a:srgbClr val="2E86C1"/>
            </a:solidFill>
          </c:spPr>
          <c:cat>
            <c:strRef>
              <c:f>Sheet1!$A$2:$A$4</c:f>
              <c:strCache>
                <c:ptCount val="3"/>
                <c:pt idx="0">
                  <c:v>'24</c:v>
                </c:pt>
                <c:pt idx="1">
                  <c:v>'25</c:v>
                </c:pt>
                <c:pt idx="2">
                  <c:v>'26F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0.2</c:v>
                </c:pt>
                <c:pt idx="2">
                  <c:v>1.0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chart" Target="../charts/chart3.xml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isco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1274064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47548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Cisco India — SP Routing &amp; Optical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04672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Liberation Sans"/>
                <a:ea typeface="Liberation Sans"/>
                <a:cs typeface="Liberation Sans"/>
              </a:rPr>
              <a:t>Account Owner: Manoj Gopalan
Technical Owner: Rushikesh Purohit · Kasturi Rangan</a:t>
            </a:r>
          </a:p>
        </p:txBody>
      </p:sp>
      <p:pic>
        <p:nvPicPr>
          <p:cNvPr id="6" name="Picture 5" descr="india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"/>
            <a:ext cx="1355464" cy="960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82880" y="1234440"/>
            <a:ext cx="324612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2588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Business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727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Liberation Sans"/>
                <a:ea typeface="Liberation Sans"/>
                <a:cs typeface="Liberation Sans"/>
              </a:rPr>
              <a:t>Control-plane FPGA focus · Bengaluru design center
Altera India pipe (registered): $1.53M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6596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Key Products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2194560"/>
          <a:ext cx="3063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48640"/>
                <a:gridCol w="502920"/>
                <a:gridCol w="594360"/>
              </a:tblGrid>
              <a:tr h="3429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Product / Program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Stage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MSS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Pipe/SAM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ASR1k Traffic 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Win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WW-linked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Lavena OAM (8000 MPA)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Chase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$600K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Le Tour PH2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Chase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$480K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Agena MPA Ctrl Card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Define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Chase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$450K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Firebolt (A5+MAX10)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Pursuit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India RFQ ctrl plane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Quoted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At 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Price-gated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Optical (w/ Italy)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Engage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A1A1A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~$2M SAM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50292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Top Applications / Top 3 Seg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257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SP Aggregation / Edge routers (ASR, 8000)</a:t>
            </a:r>
          </a:p>
          <a:p>
            <a:pPr algn="l">
              <a:buFont typeface="Liberation Sans"/>
              <a:buChar char="•"/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Control-plane / IO FPGA &amp; Traffic Manager</a:t>
            </a:r>
          </a:p>
          <a:p>
            <a:pPr algn="l">
              <a:buFont typeface="Liberation Sans"/>
              <a:buChar char="•"/>
              <a:spcAft>
                <a:spcPts val="200"/>
              </a:spcAft>
            </a:pPr>
            <a:r>
              <a:rPr sz="9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Optical transport (India + Italy)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1234440"/>
            <a:ext cx="489204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29844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SWOT Analysis — Cisco View about Altera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1600200"/>
            <a:ext cx="2240280" cy="804672"/>
          </a:xfrm>
          <a:prstGeom prst="rect">
            <a:avLst/>
          </a:prstGeom>
          <a:solidFill>
            <a:srgbClr val="F7F9F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03320" y="1600200"/>
            <a:ext cx="2240280" cy="201168"/>
          </a:xfrm>
          <a:prstGeom prst="rect">
            <a:avLst/>
          </a:prstGeom>
          <a:solidFill>
            <a:srgbClr val="1F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609344"/>
            <a:ext cx="2148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18288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Agilex fabric power/perf; strong IP &amp; turnkey / P4 architectures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AI/ML Tensor blocks; A5/A3 fit for control-plane &amp; BMC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Local Bengaluru FAE depth (TM timing, MCDMA, APS)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1600200"/>
            <a:ext cx="2240280" cy="804672"/>
          </a:xfrm>
          <a:prstGeom prst="rect">
            <a:avLst/>
          </a:prstGeom>
          <a:solidFill>
            <a:srgbClr val="F7F9F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600200"/>
            <a:ext cx="2240280" cy="201168"/>
          </a:xfrm>
          <a:prstGeom prst="rect">
            <a:avLst/>
          </a:prstGeom>
          <a:solidFill>
            <a:srgbClr val="B03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609344"/>
            <a:ext cx="2148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Weaknesses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82880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Uncompetitive &lt;$20 / no ~$8 secure device vs PolarFire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Agilex 5 ~40% above Lattice on India RFQs; A3 cost high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No DDR5 on Agilex 7; memory ratio / crypto HIP gaps vs AMD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468880"/>
            <a:ext cx="2240280" cy="804672"/>
          </a:xfrm>
          <a:prstGeom prst="rect">
            <a:avLst/>
          </a:prstGeom>
          <a:solidFill>
            <a:srgbClr val="F7F9F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03320" y="2468880"/>
            <a:ext cx="2240280" cy="2011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2478024"/>
            <a:ext cx="2148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Opportunities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269748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Displace Artix / SF2 on control plane with A5 + PQC secure boot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TM / Lavena Agilex 7 wins; MAX10 BMC &amp; platform attach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AI telemetry / ASSP-ASIC replacement sockets in India designs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2468880"/>
            <a:ext cx="2240280" cy="804672"/>
          </a:xfrm>
          <a:prstGeom prst="rect">
            <a:avLst/>
          </a:prstGeom>
          <a:solidFill>
            <a:srgbClr val="F7F9FB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2468880"/>
            <a:ext cx="2240280" cy="201168"/>
          </a:xfrm>
          <a:prstGeom prst="rect">
            <a:avLst/>
          </a:prstGeom>
          <a:solidFill>
            <a:srgbClr val="C47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478024"/>
            <a:ext cx="21488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Threats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69748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AMD Versal 2 HIP / HBM3; Lattice mid-range with HP XCVRs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PolarFire security lock-in; virtualization cuts FPGA content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Geopolitics / indigenous FPGA pressure; LPDDR4 EOL cycle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3703320"/>
            <a:ext cx="4892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76732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2026 Strategy &amp; Goals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3657600" y="4023360"/>
          <a:ext cx="1508760" cy="1143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5257800" y="4023360"/>
          <a:ext cx="1508760" cy="1143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6858000" y="4023360"/>
          <a:ext cx="1508760" cy="11430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703320" y="521208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Secure and grow existing 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53949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Close TM / Sausalito DWIN split with WW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Hold Lavena Agilex 7 on AMD timing pain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Sustain Bengaluru FAE presence on APS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212080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Expand share of wallet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539496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Win India RFQ with Agilex 5 pricing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Firebolt A5 + MAX 10 platform attach</a:t>
            </a:r>
          </a:p>
          <a:p>
            <a:pPr algn="l">
              <a:buFont typeface="Liberation Sans"/>
              <a:buChar char="•"/>
              <a:spcAft>
                <a:spcPts val="100"/>
              </a:spcAft>
            </a:pPr>
            <a:r>
              <a:rPr sz="8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PQC / secure-boot vs SmartFusion2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1234440"/>
            <a:ext cx="33832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2520" y="129844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Key Relationships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1554480"/>
            <a:ext cx="3200400" cy="256032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1572768"/>
            <a:ext cx="12344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Cisco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1572768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Altera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1572768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Status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1847088"/>
            <a:ext cx="12801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Vijay Pramod (FPGA Dir)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1847088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Ganga / Rushikesh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384280" y="1874520"/>
            <a:ext cx="164592" cy="164592"/>
          </a:xfrm>
          <a:prstGeom prst="rect">
            <a:avLst/>
          </a:prstGeom>
          <a:solidFill>
            <a:srgbClr val="2EA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32520" y="2084832"/>
            <a:ext cx="12801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Alap Shah (Sr Dir CE)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2084832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Manoj / Chuck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384280" y="2112264"/>
            <a:ext cx="164592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2322576"/>
            <a:ext cx="12801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Akhil Guha (Sr Dir HW)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12680" y="2322576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Manoj / Rushikesh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384280" y="2350008"/>
            <a:ext cx="164592" cy="164592"/>
          </a:xfrm>
          <a:prstGeom prst="rect">
            <a:avLst/>
          </a:prstGeom>
          <a:solidFill>
            <a:srgbClr val="2EA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32520" y="2560320"/>
            <a:ext cx="12801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Manikandan (Sr Arch)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2680" y="2560320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Kasturi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384280" y="2587752"/>
            <a:ext cx="164592" cy="164592"/>
          </a:xfrm>
          <a:prstGeom prst="rect">
            <a:avLst/>
          </a:prstGeom>
          <a:solidFill>
            <a:srgbClr val="2EA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32520" y="2798064"/>
            <a:ext cx="12801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TM eng (Kannan/Vaibhav)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12680" y="2798064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Kasturi / Factory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384280" y="2825496"/>
            <a:ext cx="164592" cy="164592"/>
          </a:xfrm>
          <a:prstGeom prst="rect">
            <a:avLst/>
          </a:prstGeom>
          <a:solidFill>
            <a:srgbClr val="2EA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32520" y="3035808"/>
            <a:ext cx="12801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Marco Croci (VP Eng)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12680" y="3035808"/>
            <a:ext cx="10972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Jacques / Mike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384280" y="3063240"/>
            <a:ext cx="164592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95360" y="3520440"/>
            <a:ext cx="33832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32520" y="358444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Gaps &amp; Concerns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32520" y="38404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Liberation Sans"/>
              <a:buChar char="•"/>
              <a:spcAft>
                <a:spcPts val="200"/>
              </a:spcAft>
            </a:pPr>
            <a:r>
              <a:rPr sz="8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Agilex 5 ~40% above Lattice on India RFQ</a:t>
            </a:r>
          </a:p>
          <a:p>
            <a:pPr algn="l">
              <a:buFont typeface="Liberation Sans"/>
              <a:buChar char="•"/>
              <a:spcAft>
                <a:spcPts val="200"/>
              </a:spcAft>
            </a:pPr>
            <a:r>
              <a:rPr sz="8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Thin Cisco FTE (5% FSE / 10% FAE) vs TM load</a:t>
            </a:r>
          </a:p>
          <a:p>
            <a:pPr algn="l">
              <a:buFont typeface="Liberation Sans"/>
              <a:buChar char="•"/>
              <a:spcAft>
                <a:spcPts val="200"/>
              </a:spcAft>
            </a:pPr>
            <a:r>
              <a:rPr sz="8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Low-end secure ~$8 socket — no product path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95360" y="4892040"/>
            <a:ext cx="33832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32520" y="495604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Action Plans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86800" y="5193792"/>
            <a:ext cx="3200400" cy="219456"/>
          </a:xfrm>
          <a:prstGeom prst="rect">
            <a:avLst/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32520" y="5193792"/>
            <a:ext cx="1828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Action Plans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561320" y="5193792"/>
            <a:ext cx="6400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Due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01400" y="5193792"/>
            <a:ext cx="59436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Status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32520" y="5440680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Claim TM/Sausalito DWIN split w/ WW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5440680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Oct'26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384280" y="5449824"/>
            <a:ext cx="164592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32520" y="5641848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Agilex 5 golden-part pricing for RFQ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561320" y="5641848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Q4'26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384280" y="5650992"/>
            <a:ext cx="164592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32520" y="5843016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Lavena A7 fit analysis vs AMD timing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61320" y="5843016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Nov'26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384280" y="5852160"/>
            <a:ext cx="164592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32520" y="6044184"/>
            <a:ext cx="1828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PQC / SEU close with Bengaluru eng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61320" y="6044184"/>
            <a:ext cx="6400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Liberation Sans"/>
                <a:ea typeface="Liberation Sans"/>
                <a:cs typeface="Liberation Sans"/>
              </a:rPr>
              <a:t>Q4'26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384280" y="6053328"/>
            <a:ext cx="164592" cy="164592"/>
          </a:xfrm>
          <a:prstGeom prst="rect">
            <a:avLst/>
          </a:prstGeom>
          <a:solidFill>
            <a:srgbClr val="2EA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altera_wordm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6446520"/>
            <a:ext cx="1024128" cy="256032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9875520" y="649224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Liberation Sans"/>
                <a:ea typeface="Liberation Sans"/>
                <a:cs typeface="Liberation Sans"/>
              </a:rPr>
              <a:t>Altera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