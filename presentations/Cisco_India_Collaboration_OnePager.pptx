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00" b="1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India Pipe $M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India Pipe $M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Sheet1!$A$2:$A$4</c:f>
              <c:strCache>
                <c:ptCount val="3"/>
                <c:pt idx="0">
                  <c:v>'24</c:v>
                </c:pt>
                <c:pt idx="1">
                  <c:v>'25</c:v>
                </c:pt>
                <c:pt idx="2">
                  <c:v>'26F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</c:v>
                </c:pt>
                <c:pt idx="1">
                  <c:v>1.3</c:v>
                </c:pt>
                <c:pt idx="2">
                  <c:v>1.53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00" b="1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Active Programs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Active Programs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Sheet1!$A$2:$A$4</c:f>
              <c:strCache>
                <c:ptCount val="3"/>
                <c:pt idx="0">
                  <c:v>'24</c:v>
                </c:pt>
                <c:pt idx="1">
                  <c:v>'25</c:v>
                </c:pt>
                <c:pt idx="2">
                  <c:v>'26F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4</c:v>
                </c:pt>
                <c:pt idx="2">
                  <c:v>7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00" b="1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DW Claim Path $M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DW Claim Path $M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Sheet1!$A$2:$A$4</c:f>
              <c:strCache>
                <c:ptCount val="3"/>
                <c:pt idx="0">
                  <c:v>'24</c:v>
                </c:pt>
                <c:pt idx="1">
                  <c:v>'25</c:v>
                </c:pt>
                <c:pt idx="2">
                  <c:v>'26F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0.2</c:v>
                </c:pt>
                <c:pt idx="2">
                  <c:v>1.0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Relationship Id="rId6" Type="http://schemas.openxmlformats.org/officeDocument/2006/relationships/chart" Target="../charts/chart3.xml"/><Relationship Id="rId7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isco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9728"/>
            <a:ext cx="1274064" cy="3474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8600" y="47548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Cisco India — SP Routing &amp; Optical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04672"/>
            <a:ext cx="4389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Liberation Sans"/>
                <a:ea typeface="Liberation Sans"/>
                <a:cs typeface="Liberation Sans"/>
              </a:rPr>
              <a:t>Account Owner: Manoj Gopalan
Technical Owner: Rushikesh Purohit · Kasturi Rangan</a:t>
            </a:r>
          </a:p>
        </p:txBody>
      </p:sp>
      <p:pic>
        <p:nvPicPr>
          <p:cNvPr id="6" name="Picture 5" descr="india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37160"/>
            <a:ext cx="1355464" cy="960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82880" y="1234440"/>
            <a:ext cx="3246120" cy="5074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32588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Business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572768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A5A5A"/>
                </a:solidFill>
                <a:latin typeface="Liberation Sans"/>
                <a:ea typeface="Liberation Sans"/>
                <a:cs typeface="Liberation Sans"/>
              </a:rPr>
              <a:t>Control-plane FPGA focus · Bengaluru design center
Altera India pipe (registered): $1.53M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965960"/>
            <a:ext cx="2926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Key Products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" y="2194560"/>
          <a:ext cx="3063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548640"/>
                <a:gridCol w="502920"/>
                <a:gridCol w="594360"/>
              </a:tblGrid>
              <a:tr h="3429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Product / Program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Stage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MSS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Pipe/SAM</a:t>
                      </a:r>
                    </a:p>
                  </a:txBody>
                  <a:tcPr anchor="ctr">
                    <a:solidFill>
                      <a:srgbClr val="E8EE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ASR1k Traffic Manager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Active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Win path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WW-linked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Lavena OAM (8000 MPA)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Define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Chase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$600K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Le Tour PH2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Define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Chase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$480K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Agena MPA Ctrl Card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Define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Chase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$450K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Firebolt (A5+MAX10)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Pursuit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Open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TBD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India RFQ ctrl plane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Quoted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Price-gated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Optical (w/ Italy)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Engage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Low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A1A1A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~$2M SAM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5029200"/>
            <a:ext cx="2926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Top Applications / Top 3 Seg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2578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Liberation Sans"/>
              <a:buChar char="•"/>
              <a:spcAft>
                <a:spcPts val="200"/>
              </a:spcAft>
            </a:pPr>
            <a:r>
              <a:rPr sz="9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SP Aggregation / Edge routers (ASR, 8000)</a:t>
            </a:r>
          </a:p>
          <a:p>
            <a:pPr algn="l">
              <a:buFont typeface="Liberation Sans"/>
              <a:buChar char="•"/>
              <a:spcAft>
                <a:spcPts val="200"/>
              </a:spcAft>
            </a:pPr>
            <a:r>
              <a:rPr sz="9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Control-plane / IO FPGA &amp; Traffic Manager</a:t>
            </a:r>
          </a:p>
          <a:p>
            <a:pPr algn="l">
              <a:buFont typeface="Liberation Sans"/>
              <a:buChar char="•"/>
              <a:spcAft>
                <a:spcPts val="200"/>
              </a:spcAft>
            </a:pPr>
            <a:r>
              <a:rPr sz="9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Optical transport (India + Italy)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1234440"/>
            <a:ext cx="489204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1298448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SWOT Analysis — Customer View (Cisco India)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1600200"/>
            <a:ext cx="2240280" cy="804672"/>
          </a:xfrm>
          <a:prstGeom prst="rect">
            <a:avLst/>
          </a:prstGeom>
          <a:solidFill>
            <a:srgbClr val="F7F9FB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1600200"/>
            <a:ext cx="2240280" cy="201168"/>
          </a:xfrm>
          <a:prstGeom prst="rect">
            <a:avLst/>
          </a:prstGeom>
          <a:solidFill>
            <a:srgbClr val="1F7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40" y="1609344"/>
            <a:ext cx="214884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Strengths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182880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Liberation Sans"/>
              <a:buChar char="•"/>
              <a:spcAft>
                <a:spcPts val="100"/>
              </a:spcAft>
            </a:pPr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30+ FPGA eng in Bengaluru; owns SP routing &amp; optical design</a:t>
            </a:r>
          </a:p>
          <a:p>
            <a:pPr algn="l">
              <a:buFont typeface="Liberation Sans"/>
              <a:buChar char="•"/>
              <a:spcAft>
                <a:spcPts val="100"/>
              </a:spcAft>
            </a:pPr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8000 / ASR platforms + Silicon One datapath leadership</a:t>
            </a:r>
          </a:p>
          <a:p>
            <a:pPr algn="l">
              <a:buFont typeface="Liberation Sans"/>
              <a:buChar char="•"/>
              <a:spcAft>
                <a:spcPts val="100"/>
              </a:spcAft>
            </a:pPr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Deep director bench (Alap, Akhil, Vijay)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1600200"/>
            <a:ext cx="2240280" cy="804672"/>
          </a:xfrm>
          <a:prstGeom prst="rect">
            <a:avLst/>
          </a:prstGeom>
          <a:solidFill>
            <a:srgbClr val="F7F9FB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1600200"/>
            <a:ext cx="2240280" cy="201168"/>
          </a:xfrm>
          <a:prstGeom prst="rect">
            <a:avLst/>
          </a:prstGeom>
          <a:solidFill>
            <a:srgbClr val="B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1609344"/>
            <a:ext cx="214884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Weaknesses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182880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Liberation Sans"/>
              <a:buChar char="•"/>
              <a:spcAft>
                <a:spcPts val="100"/>
              </a:spcAft>
            </a:pPr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Control plane locked to Xilinx Artix / Microchip SF2</a:t>
            </a:r>
          </a:p>
          <a:p>
            <a:pPr algn="l">
              <a:buFont typeface="Liberation Sans"/>
              <a:buChar char="•"/>
              <a:spcAft>
                <a:spcPts val="100"/>
              </a:spcAft>
            </a:pPr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Slow FPGA vendor switch; price-sensitive RFQs</a:t>
            </a:r>
          </a:p>
          <a:p>
            <a:pPr algn="l">
              <a:buFont typeface="Liberation Sans"/>
              <a:buChar char="•"/>
              <a:spcAft>
                <a:spcPts val="100"/>
              </a:spcAft>
            </a:pPr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Legacy codebases raise migration cost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2468880"/>
            <a:ext cx="2240280" cy="804672"/>
          </a:xfrm>
          <a:prstGeom prst="rect">
            <a:avLst/>
          </a:prstGeom>
          <a:solidFill>
            <a:srgbClr val="F7F9FB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03320" y="2468880"/>
            <a:ext cx="2240280" cy="20116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9040" y="2478024"/>
            <a:ext cx="214884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Opportunities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40" y="269748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Liberation Sans"/>
              <a:buChar char="•"/>
              <a:spcAft>
                <a:spcPts val="100"/>
              </a:spcAft>
            </a:pPr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Control-plane refresh; PQC / secure-boot mandates</a:t>
            </a:r>
          </a:p>
          <a:p>
            <a:pPr algn="l">
              <a:buFont typeface="Liberation Sans"/>
              <a:buChar char="•"/>
              <a:spcAft>
                <a:spcPts val="100"/>
              </a:spcAft>
            </a:pPr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Make-in-India manufacturing expands local programs</a:t>
            </a:r>
          </a:p>
          <a:p>
            <a:pPr algn="l">
              <a:buFont typeface="Liberation Sans"/>
              <a:buChar char="•"/>
              <a:spcAft>
                <a:spcPts val="100"/>
              </a:spcAft>
            </a:pPr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AI/ML on control path &amp; BMC attach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80760" y="2468880"/>
            <a:ext cx="2240280" cy="804672"/>
          </a:xfrm>
          <a:prstGeom prst="rect">
            <a:avLst/>
          </a:prstGeom>
          <a:solidFill>
            <a:srgbClr val="F7F9FB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80760" y="2468880"/>
            <a:ext cx="2240280" cy="201168"/>
          </a:xfrm>
          <a:prstGeom prst="rect">
            <a:avLst/>
          </a:prstGeom>
          <a:solidFill>
            <a:srgbClr val="C47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2478024"/>
            <a:ext cx="214884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Threats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269748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Liberation Sans"/>
              <a:buChar char="•"/>
              <a:spcAft>
                <a:spcPts val="100"/>
              </a:spcAft>
            </a:pPr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ASIC absorption of datapath value</a:t>
            </a:r>
          </a:p>
          <a:p>
            <a:pPr algn="l">
              <a:buFont typeface="Liberation Sans"/>
              <a:buChar char="•"/>
              <a:spcAft>
                <a:spcPts val="100"/>
              </a:spcAft>
            </a:pPr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Lattice / AMD / PolarFire price-feature pressure</a:t>
            </a:r>
          </a:p>
          <a:p>
            <a:pPr algn="l">
              <a:buFont typeface="Liberation Sans"/>
              <a:buChar char="•"/>
              <a:spcAft>
                <a:spcPts val="100"/>
              </a:spcAft>
            </a:pPr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Virtualization &amp; SW disrupts HW attach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66160" y="3703320"/>
            <a:ext cx="489204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03320" y="3767328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2026 Strategy &amp; Goals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3657600" y="4023360"/>
          <a:ext cx="1508760" cy="1143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5257800" y="4023360"/>
          <a:ext cx="1508760" cy="1143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36" name="Chart 35"/>
          <p:cNvGraphicFramePr>
            <a:graphicFrameLocks noGrp="1"/>
          </p:cNvGraphicFramePr>
          <p:nvPr/>
        </p:nvGraphicFramePr>
        <p:xfrm>
          <a:off x="6858000" y="4023360"/>
          <a:ext cx="1508760" cy="11430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3703320" y="5212080"/>
            <a:ext cx="2286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Secure and grow existing business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03320" y="5394960"/>
            <a:ext cx="2286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Liberation Sans"/>
              <a:buChar char="•"/>
              <a:spcAft>
                <a:spcPts val="100"/>
              </a:spcAft>
            </a:pPr>
            <a:r>
              <a:rPr sz="8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Close TM / Sausalito DWIN split with WW</a:t>
            </a:r>
          </a:p>
          <a:p>
            <a:pPr algn="l">
              <a:buFont typeface="Liberation Sans"/>
              <a:buChar char="•"/>
              <a:spcAft>
                <a:spcPts val="100"/>
              </a:spcAft>
            </a:pPr>
            <a:r>
              <a:rPr sz="8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Hold Lavena Agilex 7 on AMD timing pain</a:t>
            </a:r>
          </a:p>
          <a:p>
            <a:pPr algn="l">
              <a:buFont typeface="Liberation Sans"/>
              <a:buChar char="•"/>
              <a:spcAft>
                <a:spcPts val="100"/>
              </a:spcAft>
            </a:pPr>
            <a:r>
              <a:rPr sz="8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Sustain Bengaluru FAE presence on APS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5212080"/>
            <a:ext cx="21945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Expand share of wallet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5394960"/>
            <a:ext cx="2194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Liberation Sans"/>
              <a:buChar char="•"/>
              <a:spcAft>
                <a:spcPts val="100"/>
              </a:spcAft>
            </a:pPr>
            <a:r>
              <a:rPr sz="8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Win India RFQ with Agilex 5 pricing</a:t>
            </a:r>
          </a:p>
          <a:p>
            <a:pPr algn="l">
              <a:buFont typeface="Liberation Sans"/>
              <a:buChar char="•"/>
              <a:spcAft>
                <a:spcPts val="100"/>
              </a:spcAft>
            </a:pPr>
            <a:r>
              <a:rPr sz="8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Firebolt A5 + MAX 10 platform attach</a:t>
            </a:r>
          </a:p>
          <a:p>
            <a:pPr algn="l">
              <a:buFont typeface="Liberation Sans"/>
              <a:buChar char="•"/>
              <a:spcAft>
                <a:spcPts val="100"/>
              </a:spcAft>
            </a:pPr>
            <a:r>
              <a:rPr sz="8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PQC / secure-boot vs SmartFusion2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95360" y="1234440"/>
            <a:ext cx="33832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32520" y="1298448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Key Relationships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0" y="1554480"/>
            <a:ext cx="3200400" cy="256032"/>
          </a:xfrm>
          <a:prstGeom prst="rect">
            <a:avLst/>
          </a:prstGeom>
          <a:solidFill>
            <a:srgbClr val="E8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32520" y="1572768"/>
            <a:ext cx="12344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Cisco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2680" y="1572768"/>
            <a:ext cx="10972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Altera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1572768"/>
            <a:ext cx="6400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Status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32520" y="1847088"/>
            <a:ext cx="128016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Vijay Pramod (FPGA Dir)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1847088"/>
            <a:ext cx="10972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Ganga / Rushikesh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384280" y="1874520"/>
            <a:ext cx="164592" cy="164592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732520" y="2084832"/>
            <a:ext cx="128016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Alap Shah (Sr Dir CE)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12680" y="2084832"/>
            <a:ext cx="10972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Manoj / Chuck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384280" y="2112264"/>
            <a:ext cx="164592" cy="16459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32520" y="2322576"/>
            <a:ext cx="128016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Akhil Guha (Sr Dir HW)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2322576"/>
            <a:ext cx="10972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Manoj / Rushikesh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384280" y="2350008"/>
            <a:ext cx="164592" cy="164592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732520" y="2560320"/>
            <a:ext cx="128016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Manikandan (Sr Arch)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12680" y="2560320"/>
            <a:ext cx="10972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Kasturi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384280" y="2587752"/>
            <a:ext cx="164592" cy="164592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32520" y="2798064"/>
            <a:ext cx="128016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TM eng (Kannan/Vaibhav)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12680" y="2798064"/>
            <a:ext cx="10972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Kasturi / Factory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1384280" y="2825496"/>
            <a:ext cx="164592" cy="164592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732520" y="3035808"/>
            <a:ext cx="128016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Marco Croci (VP Eng)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3035808"/>
            <a:ext cx="10972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Jacques / Mike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384280" y="3063240"/>
            <a:ext cx="164592" cy="16459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595360" y="3520440"/>
            <a:ext cx="33832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732520" y="3584448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Gaps &amp; Concerns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32520" y="38404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Liberation Sans"/>
              <a:buChar char="•"/>
              <a:spcAft>
                <a:spcPts val="200"/>
              </a:spcAft>
            </a:pPr>
            <a:r>
              <a:rPr sz="8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Agilex 5 ~40% above Lattice on India RFQ</a:t>
            </a:r>
          </a:p>
          <a:p>
            <a:pPr algn="l">
              <a:buFont typeface="Liberation Sans"/>
              <a:buChar char="•"/>
              <a:spcAft>
                <a:spcPts val="200"/>
              </a:spcAft>
            </a:pPr>
            <a:r>
              <a:rPr sz="8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Thin Cisco FTE (5% FSE / 10% FAE) vs TM load</a:t>
            </a:r>
          </a:p>
          <a:p>
            <a:pPr algn="l">
              <a:buFont typeface="Liberation Sans"/>
              <a:buChar char="•"/>
              <a:spcAft>
                <a:spcPts val="200"/>
              </a:spcAft>
            </a:pPr>
            <a:r>
              <a:rPr sz="8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Low-end secure ~$8 socket — no product path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95360" y="4892040"/>
            <a:ext cx="33832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732520" y="4956048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Action Plans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686800" y="5193792"/>
            <a:ext cx="3200400" cy="219456"/>
          </a:xfrm>
          <a:prstGeom prst="rect">
            <a:avLst/>
          </a:prstGeom>
          <a:solidFill>
            <a:srgbClr val="E8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732520" y="5193792"/>
            <a:ext cx="18288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Action Plans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61320" y="5193792"/>
            <a:ext cx="6400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Due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201400" y="5193792"/>
            <a:ext cx="59436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Status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32520" y="5440680"/>
            <a:ext cx="18288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Claim TM/Sausalito DWIN split w/ WW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61320" y="5440680"/>
            <a:ext cx="6400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Oct'26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1384280" y="5449824"/>
            <a:ext cx="164592" cy="16459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732520" y="5641848"/>
            <a:ext cx="18288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Agilex 5 golden-part pricing for RFQ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61320" y="5641848"/>
            <a:ext cx="6400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Q4'26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384280" y="5650992"/>
            <a:ext cx="164592" cy="16459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732520" y="5843016"/>
            <a:ext cx="18288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Lavena A7 fit analysis vs AMD timing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561320" y="5843016"/>
            <a:ext cx="6400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Nov'26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1384280" y="5852160"/>
            <a:ext cx="164592" cy="16459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732520" y="6044184"/>
            <a:ext cx="18288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PQC / SEU close with Bengaluru eng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561320" y="6044184"/>
            <a:ext cx="6400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Liberation Sans"/>
                <a:ea typeface="Liberation Sans"/>
                <a:cs typeface="Liberation Sans"/>
              </a:rPr>
              <a:t>Q4'26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384280" y="6053328"/>
            <a:ext cx="164592" cy="164592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altera_wordm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6446520"/>
            <a:ext cx="1024128" cy="256032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9875520" y="6492240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A5A5A"/>
                </a:solidFill>
                <a:latin typeface="Liberation Sans"/>
                <a:ea typeface="Liberation Sans"/>
                <a:cs typeface="Liberation Sans"/>
              </a:rPr>
              <a:t>Altera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