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A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5156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>
                <a:solidFill>
                  <a:srgbClr val="007ACC"/>
                </a:solidFill>
                <a:latin typeface="Liberation Sans"/>
                <a:ea typeface="Liberation Sans"/>
                <a:cs typeface="Liberation Sans"/>
              </a:rPr>
              <a:t>STRATEGIC ACCOUNT 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920240"/>
            <a:ext cx="1051560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4000" b="1">
                <a:solidFill>
                  <a:srgbClr val="0B2B45"/>
                </a:solidFill>
                <a:latin typeface="Liberation Sans"/>
                <a:ea typeface="Liberation Sans"/>
                <a:cs typeface="Liberation Sans"/>
              </a:rPr>
              <a:t>CISCO INDIA REPORT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743200"/>
            <a:ext cx="10515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0">
                <a:solidFill>
                  <a:srgbClr val="5C6B7A"/>
                </a:solidFill>
                <a:latin typeface="Liberation Sans"/>
                <a:ea typeface="Liberation Sans"/>
                <a:cs typeface="Liberation Sans"/>
              </a:rPr>
              <a:t>AP-INDIA Region · Path to #1 contribution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657600"/>
            <a:ext cx="5486400" cy="1463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1A1A1A"/>
                </a:solidFill>
                <a:latin typeface="Liberation Sans"/>
                <a:ea typeface="Liberation Sans"/>
                <a:cs typeface="Liberation Sans"/>
              </a:rPr>
              <a:t>SAM (WW): Jacques Cesbron (Acting)
Executive Sponsor: Hua Xue
India FSE: Manoj Gopalan
India FAE: Rushikesh Purohit · Kasturi Rangan
Date: October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B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565392"/>
            <a:ext cx="54864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000" b="0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rPr>
              <a:t>Altera Confidential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565392"/>
            <a:ext cx="219456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000" b="0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rPr>
              <a:t>1 / 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A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>
                <a:solidFill>
                  <a:srgbClr val="007ACC"/>
                </a:solidFill>
                <a:latin typeface="Liberation Sans"/>
                <a:ea typeface="Liberation Sans"/>
                <a:cs typeface="Liberation Sans"/>
              </a:rPr>
              <a:t>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15568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>
                <a:solidFill>
                  <a:srgbClr val="0B2B45"/>
                </a:solidFill>
                <a:latin typeface="Liberation Sans"/>
                <a:ea typeface="Liberation Sans"/>
                <a:cs typeface="Liberation Sans"/>
              </a:rPr>
              <a:t>Executive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115568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5C6B7A"/>
                </a:solidFill>
                <a:latin typeface="Liberation Sans"/>
                <a:ea typeface="Liberation Sans"/>
                <a:cs typeface="Liberation Sans"/>
              </a:rPr>
              <a:t>Cisco India regional deep-dive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463040"/>
            <a:ext cx="11247120" cy="9144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463040"/>
            <a:ext cx="109728" cy="914400"/>
          </a:xfrm>
          <a:prstGeom prst="rect">
            <a:avLst/>
          </a:prstGeom>
          <a:solidFill>
            <a:srgbClr val="00A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627632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2800" b="1">
                <a:solidFill>
                  <a:srgbClr val="007ACC"/>
                </a:solidFill>
                <a:latin typeface="Liberation Sans"/>
                <a:ea typeface="Liberation Sans"/>
                <a:cs typeface="Liberation Sans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627632"/>
            <a:ext cx="7315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>
                <a:solidFill>
                  <a:srgbClr val="0B2B45"/>
                </a:solidFill>
                <a:latin typeface="Liberation Sans"/>
                <a:ea typeface="Liberation Sans"/>
                <a:cs typeface="Liberation Sans"/>
              </a:rPr>
              <a:t>Opportunity Pipeline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965960"/>
            <a:ext cx="73152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5C6B7A"/>
                </a:solidFill>
                <a:latin typeface="Liberation Sans"/>
                <a:ea typeface="Liberation Sans"/>
                <a:cs typeface="Liberation Sans"/>
              </a:rPr>
              <a:t>Account Plan section: Strategic Opportunities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514600"/>
            <a:ext cx="11247120" cy="9144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514600"/>
            <a:ext cx="109728" cy="914400"/>
          </a:xfrm>
          <a:prstGeom prst="rect">
            <a:avLst/>
          </a:prstGeom>
          <a:solidFill>
            <a:srgbClr val="00A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2679192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2800" b="1">
                <a:solidFill>
                  <a:srgbClr val="007ACC"/>
                </a:solidFill>
                <a:latin typeface="Liberation Sans"/>
                <a:ea typeface="Liberation Sans"/>
                <a:cs typeface="Liberation Sans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2679192"/>
            <a:ext cx="7315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>
                <a:solidFill>
                  <a:srgbClr val="0B2B45"/>
                </a:solidFill>
                <a:latin typeface="Liberation Sans"/>
                <a:ea typeface="Liberation Sans"/>
                <a:cs typeface="Liberation Sans"/>
              </a:rPr>
              <a:t>SWOT Analysis — India Region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3017520"/>
            <a:ext cx="73152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5C6B7A"/>
                </a:solidFill>
                <a:latin typeface="Liberation Sans"/>
                <a:ea typeface="Liberation Sans"/>
                <a:cs typeface="Liberation Sans"/>
              </a:rPr>
              <a:t>Account Plan section: Customer Landscape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566160"/>
            <a:ext cx="11247120" cy="9144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3566160"/>
            <a:ext cx="109728" cy="914400"/>
          </a:xfrm>
          <a:prstGeom prst="rect">
            <a:avLst/>
          </a:prstGeom>
          <a:solidFill>
            <a:srgbClr val="00A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3730752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2800" b="1">
                <a:solidFill>
                  <a:srgbClr val="007ACC"/>
                </a:solidFill>
                <a:latin typeface="Liberation Sans"/>
                <a:ea typeface="Liberation Sans"/>
                <a:cs typeface="Liberation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3730752"/>
            <a:ext cx="7315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>
                <a:solidFill>
                  <a:srgbClr val="0B2B45"/>
                </a:solidFill>
                <a:latin typeface="Liberation Sans"/>
                <a:ea typeface="Liberation Sans"/>
                <a:cs typeface="Liberation Sans"/>
              </a:rPr>
              <a:t>Critical Needs and Requirements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4069080"/>
            <a:ext cx="73152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5C6B7A"/>
                </a:solidFill>
                <a:latin typeface="Liberation Sans"/>
                <a:ea typeface="Liberation Sans"/>
                <a:cs typeface="Liberation Sans"/>
              </a:rPr>
              <a:t>Account Plan section: Critical Needs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617720"/>
            <a:ext cx="11247120" cy="9144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4617720"/>
            <a:ext cx="109728" cy="914400"/>
          </a:xfrm>
          <a:prstGeom prst="rect">
            <a:avLst/>
          </a:prstGeom>
          <a:solidFill>
            <a:srgbClr val="00A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4782312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2800" b="1">
                <a:solidFill>
                  <a:srgbClr val="007ACC"/>
                </a:solidFill>
                <a:latin typeface="Liberation Sans"/>
                <a:ea typeface="Liberation Sans"/>
                <a:cs typeface="Liberation San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" y="4782312"/>
            <a:ext cx="7315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>
                <a:solidFill>
                  <a:srgbClr val="0B2B45"/>
                </a:solidFill>
                <a:latin typeface="Liberation Sans"/>
                <a:ea typeface="Liberation Sans"/>
                <a:cs typeface="Liberation Sans"/>
              </a:rPr>
              <a:t>Relationship Mapping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54480" y="5120640"/>
            <a:ext cx="73152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5C6B7A"/>
                </a:solidFill>
                <a:latin typeface="Liberation Sans"/>
                <a:ea typeface="Liberation Sans"/>
                <a:cs typeface="Liberation Sans"/>
              </a:rPr>
              <a:t>Account Plan section: Influence Map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B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6565392"/>
            <a:ext cx="54864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000" b="0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rPr>
              <a:t>Altera Confidential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0" y="6565392"/>
            <a:ext cx="219456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000" b="0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rPr>
              <a:t>2 /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A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>
                <a:solidFill>
                  <a:srgbClr val="007ACC"/>
                </a:solidFill>
                <a:latin typeface="Liberation Sans"/>
                <a:ea typeface="Liberation Sans"/>
                <a:cs typeface="Liberation Sans"/>
              </a:rPr>
              <a:t>Customer Landscape · Coverage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15568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>
                <a:solidFill>
                  <a:srgbClr val="0B2B45"/>
                </a:solidFill>
                <a:latin typeface="Liberation Sans"/>
                <a:ea typeface="Liberation Sans"/>
                <a:cs typeface="Liberation Sans"/>
              </a:rPr>
              <a:t>Cisco India coverage snapshot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115568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5C6B7A"/>
                </a:solidFill>
                <a:latin typeface="Liberation Sans"/>
                <a:ea typeface="Liberation Sans"/>
                <a:cs typeface="Liberation Sans"/>
              </a:rPr>
              <a:t>CISCO SYSTEMS (INDIA) PRIVATE LIMITED · Bengaluru design center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463040"/>
            <a:ext cx="2651760" cy="164592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463040"/>
            <a:ext cx="2651760" cy="73152"/>
          </a:xfrm>
          <a:prstGeom prst="rect">
            <a:avLst/>
          </a:prstGeom>
          <a:solidFill>
            <a:srgbClr val="00A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737360"/>
            <a:ext cx="22860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>
                <a:solidFill>
                  <a:srgbClr val="0B2B45"/>
                </a:solidFill>
                <a:latin typeface="Liberation Sans"/>
                <a:ea typeface="Liberation Sans"/>
                <a:cs typeface="Liberation Sans"/>
              </a:rPr>
              <a:t>$1.53M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331720"/>
            <a:ext cx="228600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5C6B7A"/>
                </a:solidFill>
                <a:latin typeface="Liberation Sans"/>
                <a:ea typeface="Liberation Sans"/>
                <a:cs typeface="Liberation Sans"/>
              </a:rPr>
              <a:t>SFDC open pipe
(3 registered opps)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37560" y="1463040"/>
            <a:ext cx="2651760" cy="164592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337560" y="1463040"/>
            <a:ext cx="2651760" cy="73152"/>
          </a:xfrm>
          <a:prstGeom prst="rect">
            <a:avLst/>
          </a:prstGeom>
          <a:solidFill>
            <a:srgbClr val="00A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20440" y="1737360"/>
            <a:ext cx="22860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>
                <a:solidFill>
                  <a:srgbClr val="0B2B45"/>
                </a:solidFill>
                <a:latin typeface="Liberation Sans"/>
                <a:ea typeface="Liberation Sans"/>
                <a:cs typeface="Liberation Sans"/>
              </a:rPr>
              <a:t>~$139M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0440" y="2331720"/>
            <a:ext cx="228600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5C6B7A"/>
                </a:solidFill>
                <a:latin typeface="Liberation Sans"/>
                <a:ea typeface="Liberation Sans"/>
                <a:cs typeface="Liberation Sans"/>
              </a:rPr>
              <a:t>WW Cisco design pipe
(Oct 2025)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0" y="1463040"/>
            <a:ext cx="2651760" cy="164592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17920" y="1463040"/>
            <a:ext cx="2651760" cy="73152"/>
          </a:xfrm>
          <a:prstGeom prst="rect">
            <a:avLst/>
          </a:prstGeom>
          <a:solidFill>
            <a:srgbClr val="00A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1737360"/>
            <a:ext cx="22860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>
                <a:solidFill>
                  <a:srgbClr val="0B2B45"/>
                </a:solidFill>
                <a:latin typeface="Liberation Sans"/>
                <a:ea typeface="Liberation Sans"/>
                <a:cs typeface="Liberation Sans"/>
              </a:rPr>
              <a:t>30+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2331720"/>
            <a:ext cx="228600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5C6B7A"/>
                </a:solidFill>
                <a:latin typeface="Liberation Sans"/>
                <a:ea typeface="Liberation Sans"/>
                <a:cs typeface="Liberation Sans"/>
              </a:rPr>
              <a:t>Cisco FPGA engineers
in Bengaluru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98280" y="1463040"/>
            <a:ext cx="2651760" cy="164592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098280" y="1463040"/>
            <a:ext cx="2651760" cy="73152"/>
          </a:xfrm>
          <a:prstGeom prst="rect">
            <a:avLst/>
          </a:prstGeom>
          <a:solidFill>
            <a:srgbClr val="00A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81160" y="1737360"/>
            <a:ext cx="22860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>
                <a:solidFill>
                  <a:srgbClr val="0B2B45"/>
                </a:solidFill>
                <a:latin typeface="Liberation Sans"/>
                <a:ea typeface="Liberation Sans"/>
                <a:cs typeface="Liberation Sans"/>
              </a:rPr>
              <a:t>10%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81160" y="2331720"/>
            <a:ext cx="228600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5C6B7A"/>
                </a:solidFill>
                <a:latin typeface="Liberation Sans"/>
                <a:ea typeface="Liberation Sans"/>
                <a:cs typeface="Liberation Sans"/>
              </a:rPr>
              <a:t>India FAE Cisco FTE
(Rushikesh)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3383280"/>
            <a:ext cx="11247120" cy="256032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3566160"/>
            <a:ext cx="1078992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>
                <a:solidFill>
                  <a:srgbClr val="007ACC"/>
                </a:solidFill>
                <a:latin typeface="Liberation Sans"/>
                <a:ea typeface="Liberation Sans"/>
                <a:cs typeface="Liberation Sans"/>
              </a:rPr>
              <a:t>Key context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3931920"/>
            <a:ext cx="107899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Font typeface="Liberation Sans"/>
              <a:buChar char="•"/>
              <a:spcAft>
                <a:spcPts val="600"/>
              </a:spcAft>
            </a:pPr>
            <a:r>
              <a:rPr sz="1400" b="0">
                <a:solidFill>
                  <a:srgbClr val="1A1A1A"/>
                </a:solidFill>
                <a:latin typeface="Liberation Sans"/>
                <a:ea typeface="Liberation Sans"/>
                <a:cs typeface="Liberation Sans"/>
              </a:rPr>
              <a:t>India is a named Cisco design location on the WW account plan (optical shared with Italy).</a:t>
            </a:r>
          </a:p>
          <a:p>
            <a:pPr algn="l">
              <a:buFont typeface="Liberation Sans"/>
              <a:buChar char="•"/>
              <a:spcAft>
                <a:spcPts val="600"/>
              </a:spcAft>
            </a:pPr>
            <a:r>
              <a:rPr sz="1400" b="0">
                <a:solidFill>
                  <a:srgbClr val="1A1A1A"/>
                </a:solidFill>
                <a:latin typeface="Liberation Sans"/>
                <a:ea typeface="Liberation Sans"/>
                <a:cs typeface="Liberation Sans"/>
              </a:rPr>
              <a:t>CAB completed in India (Aug 2025) + 4-day training (Sep 2025).</a:t>
            </a:r>
          </a:p>
          <a:p>
            <a:pPr algn="l">
              <a:buFont typeface="Liberation Sans"/>
              <a:buChar char="•"/>
              <a:spcAft>
                <a:spcPts val="600"/>
              </a:spcAft>
            </a:pPr>
            <a:r>
              <a:rPr sz="1400" b="0">
                <a:solidFill>
                  <a:srgbClr val="1A1A1A"/>
                </a:solidFill>
                <a:latin typeface="Liberation Sans"/>
                <a:ea typeface="Liberation Sans"/>
                <a:cs typeface="Liberation Sans"/>
              </a:rPr>
              <a:t>Focus: SP routers / ASR &amp; 8000 control-plane FPGA, optical, platform/BMC attach.</a:t>
            </a:r>
          </a:p>
          <a:p>
            <a:pPr algn="l">
              <a:buFont typeface="Liberation Sans"/>
              <a:buChar char="•"/>
              <a:spcAft>
                <a:spcPts val="600"/>
              </a:spcAft>
            </a:pPr>
            <a:r>
              <a:rPr sz="1400" b="0">
                <a:solidFill>
                  <a:srgbClr val="1A1A1A"/>
                </a:solidFill>
                <a:latin typeface="Liberation Sans"/>
                <a:ea typeface="Liberation Sans"/>
                <a:cs typeface="Liberation Sans"/>
              </a:rPr>
              <a:t>Primary Altera owners: Manoj Gopalan (FSE, ~5% FTE) · Rushikesh Purohit (FAE) · Kasturi Rangan (TM/Lavena tech).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B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6565392"/>
            <a:ext cx="54864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000" b="0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rPr>
              <a:t>Altera Confidential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01200" y="6565392"/>
            <a:ext cx="219456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000" b="0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rPr>
              <a:t>3 /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A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>
                <a:solidFill>
                  <a:srgbClr val="007ACC"/>
                </a:solidFill>
                <a:latin typeface="Liberation Sans"/>
                <a:ea typeface="Liberation Sans"/>
                <a:cs typeface="Liberation Sans"/>
              </a:rPr>
              <a:t>Strategic Opportunities · Opportunity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15568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>
                <a:solidFill>
                  <a:srgbClr val="0B2B45"/>
                </a:solidFill>
                <a:latin typeface="Liberation Sans"/>
                <a:ea typeface="Liberation Sans"/>
                <a:cs typeface="Liberation Sans"/>
              </a:rPr>
              <a:t>Cisco India Opportunity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115568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5C6B7A"/>
                </a:solidFill>
                <a:latin typeface="Liberation Sans"/>
                <a:ea typeface="Liberation Sans"/>
                <a:cs typeface="Liberation Sans"/>
              </a:rPr>
              <a:t>Registered AP-INDIA SFDC + active India-supported programs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25880"/>
          <a:ext cx="1143000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  <a:gridCol w="1554480"/>
                <a:gridCol w="1097280"/>
                <a:gridCol w="1371600"/>
                <a:gridCol w="1280160"/>
                <a:gridCol w="3291840"/>
              </a:tblGrid>
              <a:tr h="50292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Opportunity</a:t>
                      </a:r>
                    </a:p>
                  </a:txBody>
                  <a:tcPr anchor="ctr">
                    <a:solidFill>
                      <a:srgbClr val="0B2B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Device</a:t>
                      </a:r>
                    </a:p>
                  </a:txBody>
                  <a:tcPr anchor="ctr">
                    <a:solidFill>
                      <a:srgbClr val="0B2B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Stage</a:t>
                      </a:r>
                    </a:p>
                  </a:txBody>
                  <a:tcPr anchor="ctr">
                    <a:solidFill>
                      <a:srgbClr val="0B2B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Status</a:t>
                      </a:r>
                    </a:p>
                  </a:txBody>
                  <a:tcPr anchor="ctr">
                    <a:solidFill>
                      <a:srgbClr val="0B2B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Pipe $</a:t>
                      </a:r>
                    </a:p>
                  </a:txBody>
                  <a:tcPr anchor="ctr">
                    <a:solidFill>
                      <a:srgbClr val="0B2B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Owners</a:t>
                      </a:r>
                    </a:p>
                  </a:txBody>
                  <a:tcPr anchor="ctr">
                    <a:solidFill>
                      <a:srgbClr val="0B2B45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OAM Engine (Lavena MPA)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Agilex 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Define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25%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$600K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Rushikesh / Kasturi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Le Tour PH2</a:t>
                      </a:r>
                    </a:p>
                  </a:txBody>
                  <a:tcPr anchor="ctr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Agilex 5</a:t>
                      </a:r>
                    </a:p>
                  </a:txBody>
                  <a:tcPr anchor="ctr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Define</a:t>
                      </a:r>
                    </a:p>
                  </a:txBody>
                  <a:tcPr anchor="ctr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25%</a:t>
                      </a:r>
                    </a:p>
                  </a:txBody>
                  <a:tcPr anchor="ctr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$480K</a:t>
                      </a:r>
                    </a:p>
                  </a:txBody>
                  <a:tcPr anchor="ctr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Rushikesh</a:t>
                      </a:r>
                    </a:p>
                  </a:txBody>
                  <a:tcPr anchor="ctr">
                    <a:solidFill>
                      <a:srgbClr val="EEF3F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Agena MPA Control Card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Agilex 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Define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25%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$450K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Narasimhan / Rushikesh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ASR1k Traffic Manager</a:t>
                      </a:r>
                    </a:p>
                  </a:txBody>
                  <a:tcPr anchor="ctr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Agilex 7 M</a:t>
                      </a:r>
                    </a:p>
                  </a:txBody>
                  <a:tcPr anchor="ctr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Active</a:t>
                      </a:r>
                    </a:p>
                  </a:txBody>
                  <a:tcPr anchor="ctr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DWIN claim WIP</a:t>
                      </a:r>
                    </a:p>
                  </a:txBody>
                  <a:tcPr anchor="ctr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WW-linked</a:t>
                      </a:r>
                    </a:p>
                  </a:txBody>
                  <a:tcPr anchor="ctr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Kasturi / Rushikesh / Shekar</a:t>
                      </a:r>
                    </a:p>
                  </a:txBody>
                  <a:tcPr anchor="ctr">
                    <a:solidFill>
                      <a:srgbClr val="EEF3F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Firebolt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Agilex 5 + MAX 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Pursuit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Open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TBD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Kasturi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Dragon IO FPGA</a:t>
                      </a:r>
                    </a:p>
                  </a:txBody>
                  <a:tcPr anchor="ctr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IO FPGA</a:t>
                      </a:r>
                    </a:p>
                  </a:txBody>
                  <a:tcPr anchor="ctr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Engage</a:t>
                      </a:r>
                    </a:p>
                  </a:txBody>
                  <a:tcPr anchor="ctr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Open</a:t>
                      </a:r>
                    </a:p>
                  </a:txBody>
                  <a:tcPr anchor="ctr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TBD</a:t>
                      </a:r>
                    </a:p>
                  </a:txBody>
                  <a:tcPr anchor="ctr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Kasturi</a:t>
                      </a:r>
                    </a:p>
                  </a:txBody>
                  <a:tcPr anchor="ctr">
                    <a:solidFill>
                      <a:srgbClr val="EEF3F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India RFQ (control plane)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Agilex 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Quoted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At risk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Pricing-gated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Manoj / Rushikesh / Sina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B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65392"/>
            <a:ext cx="54864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000" b="0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rPr>
              <a:t>Altera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565392"/>
            <a:ext cx="219456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000" b="0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rPr>
              <a:t>4 /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A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>
                <a:solidFill>
                  <a:srgbClr val="007ACC"/>
                </a:solidFill>
                <a:latin typeface="Liberation Sans"/>
                <a:ea typeface="Liberation Sans"/>
                <a:cs typeface="Liberation Sans"/>
              </a:rPr>
              <a:t>Strategic Opportunities · Opportunity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15568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>
                <a:solidFill>
                  <a:srgbClr val="0B2B45"/>
                </a:solidFill>
                <a:latin typeface="Liberation Sans"/>
                <a:ea typeface="Liberation Sans"/>
                <a:cs typeface="Liberation Sans"/>
              </a:rPr>
              <a:t>Pipeline notes &amp; near-term conversion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115568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5C6B7A"/>
                </a:solidFill>
                <a:latin typeface="Liberation Sans"/>
                <a:ea typeface="Liberation Sans"/>
                <a:cs typeface="Liberation Sans"/>
              </a:rPr>
              <a:t>Focus to grow India contribution to WW Cisco pipe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417320"/>
            <a:ext cx="5486400" cy="448056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00200"/>
            <a:ext cx="50292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0B2B45"/>
                </a:solidFill>
                <a:latin typeface="Liberation Sans"/>
                <a:ea typeface="Liberation Sans"/>
                <a:cs typeface="Liberation Sans"/>
              </a:rPr>
              <a:t>Registered SFDC total: $1.53M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057400"/>
            <a:ext cx="502920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Font typeface="Liberation Sans"/>
              <a:buChar char="•"/>
              <a:spcAft>
                <a:spcPts val="600"/>
              </a:spcAft>
            </a:pPr>
            <a:r>
              <a:rPr sz="1300" b="0">
                <a:solidFill>
                  <a:srgbClr val="1A1A1A"/>
                </a:solidFill>
                <a:latin typeface="Liberation Sans"/>
                <a:ea typeface="Liberation Sans"/>
                <a:cs typeface="Liberation Sans"/>
              </a:rPr>
              <a:t>Lavena $600K — AMD timing pressure reopening Agilex 7; PCIe/AXI fit analysis with India eng.</a:t>
            </a:r>
          </a:p>
          <a:p>
            <a:pPr algn="l">
              <a:buFont typeface="Liberation Sans"/>
              <a:buChar char="•"/>
              <a:spcAft>
                <a:spcPts val="600"/>
              </a:spcAft>
            </a:pPr>
            <a:r>
              <a:rPr sz="1300" b="0">
                <a:solidFill>
                  <a:srgbClr val="1A1A1A"/>
                </a:solidFill>
                <a:latin typeface="Liberation Sans"/>
                <a:ea typeface="Liberation Sans"/>
                <a:cs typeface="Liberation Sans"/>
              </a:rPr>
              <a:t>Le Tour $480K + Agena $450K — Agilex 5 control/platform path; Agena proto Mar’26 / FCS May’26.</a:t>
            </a:r>
          </a:p>
          <a:p>
            <a:pPr algn="l">
              <a:buFont typeface="Liberation Sans"/>
              <a:buChar char="•"/>
              <a:spcAft>
                <a:spcPts val="600"/>
              </a:spcAft>
            </a:pPr>
            <a:r>
              <a:rPr sz="1300" b="0">
                <a:solidFill>
                  <a:srgbClr val="1A1A1A"/>
                </a:solidFill>
                <a:latin typeface="Liberation Sans"/>
                <a:ea typeface="Liberation Sans"/>
                <a:cs typeface="Liberation Sans"/>
              </a:rPr>
              <a:t>TM / Sausalito (AGMA032) — P1A power-on Oct 12–16 2026; India FAE owning day-to-day APS.</a:t>
            </a:r>
          </a:p>
          <a:p>
            <a:pPr algn="l">
              <a:buFont typeface="Liberation Sans"/>
              <a:buChar char="•"/>
              <a:spcAft>
                <a:spcPts val="600"/>
              </a:spcAft>
            </a:pPr>
            <a:r>
              <a:rPr sz="1300" b="0">
                <a:solidFill>
                  <a:srgbClr val="1A1A1A"/>
                </a:solidFill>
                <a:latin typeface="Liberation Sans"/>
                <a:ea typeface="Liberation Sans"/>
                <a:cs typeface="Liberation Sans"/>
              </a:rPr>
              <a:t>India RFQ — Agilex 5 ~40% above Lattice (~$20/100KLE); golden-part pricing may be required.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417320"/>
            <a:ext cx="5486400" cy="448056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0" y="1417320"/>
            <a:ext cx="5486400" cy="73152"/>
          </a:xfrm>
          <a:prstGeom prst="rect">
            <a:avLst/>
          </a:prstGeom>
          <a:solidFill>
            <a:srgbClr val="00A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1691640"/>
            <a:ext cx="50292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0B2B45"/>
                </a:solidFill>
                <a:latin typeface="Liberation Sans"/>
                <a:ea typeface="Liberation Sans"/>
                <a:cs typeface="Liberation Sans"/>
              </a:rPr>
              <a:t>Near-term conversion focus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2194560"/>
            <a:ext cx="50292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Font typeface="Liberation Sans"/>
              <a:buChar char="•"/>
              <a:spcAft>
                <a:spcPts val="600"/>
              </a:spcAft>
            </a:pPr>
            <a:r>
              <a:rPr sz="1300" b="0">
                <a:solidFill>
                  <a:srgbClr val="1A1A1A"/>
                </a:solidFill>
                <a:latin typeface="Liberation Sans"/>
                <a:ea typeface="Liberation Sans"/>
                <a:cs typeface="Liberation Sans"/>
              </a:rPr>
              <a:t>Claim / register Traffic Manager (Sausalito) DWIN split with WW (Shekar access).</a:t>
            </a:r>
          </a:p>
          <a:p>
            <a:pPr algn="l">
              <a:buFont typeface="Liberation Sans"/>
              <a:buChar char="•"/>
              <a:spcAft>
                <a:spcPts val="600"/>
              </a:spcAft>
            </a:pPr>
            <a:r>
              <a:rPr sz="1300" b="0">
                <a:solidFill>
                  <a:srgbClr val="1A1A1A"/>
                </a:solidFill>
                <a:latin typeface="Liberation Sans"/>
                <a:ea typeface="Liberation Sans"/>
                <a:cs typeface="Liberation Sans"/>
              </a:rPr>
              <a:t>Keep Lavena Agilex 7 alive; clone/track separate TM oppty as needed.</a:t>
            </a:r>
          </a:p>
          <a:p>
            <a:pPr algn="l">
              <a:buFont typeface="Liberation Sans"/>
              <a:buChar char="•"/>
              <a:spcAft>
                <a:spcPts val="600"/>
              </a:spcAft>
            </a:pPr>
            <a:r>
              <a:rPr sz="1300" b="0">
                <a:solidFill>
                  <a:srgbClr val="1A1A1A"/>
                </a:solidFill>
                <a:latin typeface="Liberation Sans"/>
                <a:ea typeface="Liberation Sans"/>
                <a:cs typeface="Liberation Sans"/>
              </a:rPr>
              <a:t>Unblock India RFQ with Agilex 5 pricing strategy.</a:t>
            </a:r>
          </a:p>
          <a:p>
            <a:pPr algn="l">
              <a:buFont typeface="Liberation Sans"/>
              <a:buChar char="•"/>
              <a:spcAft>
                <a:spcPts val="600"/>
              </a:spcAft>
            </a:pPr>
            <a:r>
              <a:rPr sz="1300" b="0">
                <a:solidFill>
                  <a:srgbClr val="1A1A1A"/>
                </a:solidFill>
                <a:latin typeface="Liberation Sans"/>
                <a:ea typeface="Liberation Sans"/>
                <a:cs typeface="Liberation Sans"/>
              </a:rPr>
              <a:t>Close Firebolt (Agilex 5 + MAX 10) and Dragon IO firmware follow-ups.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B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6565392"/>
            <a:ext cx="54864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000" b="0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rPr>
              <a:t>Altera Confidential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0" y="6565392"/>
            <a:ext cx="219456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000" b="0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rPr>
              <a:t>5 /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A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>
                <a:solidFill>
                  <a:srgbClr val="007ACC"/>
                </a:solidFill>
                <a:latin typeface="Liberation Sans"/>
                <a:ea typeface="Liberation Sans"/>
                <a:cs typeface="Liberation Sans"/>
              </a:rPr>
              <a:t>Customer Landscape · SWOT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15568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>
                <a:solidFill>
                  <a:srgbClr val="0B2B45"/>
                </a:solidFill>
                <a:latin typeface="Liberation Sans"/>
                <a:ea typeface="Liberation Sans"/>
                <a:cs typeface="Liberation Sans"/>
              </a:rPr>
              <a:t>SWOT Analysis — India Region (Altera View)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115568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5C6B7A"/>
                </a:solidFill>
                <a:latin typeface="Liberation Sans"/>
                <a:ea typeface="Liberation Sans"/>
                <a:cs typeface="Liberation Sans"/>
              </a:rPr>
              <a:t>Control-plane / SP design activity · Bengaluru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25880"/>
            <a:ext cx="5532120" cy="233172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325880"/>
            <a:ext cx="5532120" cy="347472"/>
          </a:xfrm>
          <a:prstGeom prst="rect">
            <a:avLst/>
          </a:prstGeom>
          <a:solidFill>
            <a:srgbClr val="1F7A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371600"/>
            <a:ext cx="512064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400" b="1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rPr>
              <a:t>Strengths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783080"/>
            <a:ext cx="516636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Font typeface="Liberation Sans"/>
              <a:buChar char="•"/>
              <a:spcAft>
                <a:spcPts val="600"/>
              </a:spcAft>
            </a:pPr>
            <a:r>
              <a:rPr sz="1100" b="0">
                <a:solidFill>
                  <a:srgbClr val="1A1A1A"/>
                </a:solidFill>
                <a:latin typeface="Liberation Sans"/>
                <a:ea typeface="Liberation Sans"/>
                <a:cs typeface="Liberation Sans"/>
              </a:rPr>
              <a:t>30+ FPGA eng in Bengaluru owning SP routers, ASR/8000 control path, optical (w/ Italy)</a:t>
            </a:r>
          </a:p>
          <a:p>
            <a:pPr algn="l">
              <a:buFont typeface="Liberation Sans"/>
              <a:buChar char="•"/>
              <a:spcAft>
                <a:spcPts val="600"/>
              </a:spcAft>
            </a:pPr>
            <a:r>
              <a:rPr sz="1100" b="0">
                <a:solidFill>
                  <a:srgbClr val="1A1A1A"/>
                </a:solidFill>
                <a:latin typeface="Liberation Sans"/>
                <a:ea typeface="Liberation Sans"/>
                <a:cs typeface="Liberation Sans"/>
              </a:rPr>
              <a:t>Friendly exec relationship with Vijay Pramod; CAB + training delivered (2025)</a:t>
            </a:r>
          </a:p>
          <a:p>
            <a:pPr algn="l">
              <a:buFont typeface="Liberation Sans"/>
              <a:buChar char="•"/>
              <a:spcAft>
                <a:spcPts val="600"/>
              </a:spcAft>
            </a:pPr>
            <a:r>
              <a:rPr sz="1100" b="0">
                <a:solidFill>
                  <a:srgbClr val="1A1A1A"/>
                </a:solidFill>
                <a:latin typeface="Liberation Sans"/>
                <a:ea typeface="Liberation Sans"/>
                <a:cs typeface="Liberation Sans"/>
              </a:rPr>
              <a:t>Live traction: ASR1k TM on Agilex 7 M; AI/ML tensor story for control/BMC</a:t>
            </a:r>
          </a:p>
          <a:p>
            <a:pPr algn="l">
              <a:buFont typeface="Liberation Sans"/>
              <a:buChar char="•"/>
              <a:spcAft>
                <a:spcPts val="600"/>
              </a:spcAft>
            </a:pPr>
            <a:r>
              <a:rPr sz="1100" b="0">
                <a:solidFill>
                  <a:srgbClr val="1A1A1A"/>
                </a:solidFill>
                <a:latin typeface="Liberation Sans"/>
                <a:ea typeface="Liberation Sans"/>
                <a:cs typeface="Liberation Sans"/>
              </a:rPr>
              <a:t>PQC / secure-boot roadmap vs Microchip security incumbency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1325880"/>
            <a:ext cx="5532120" cy="233172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63640" y="1325880"/>
            <a:ext cx="5532120" cy="347472"/>
          </a:xfrm>
          <a:prstGeom prst="rect">
            <a:avLst/>
          </a:prstGeom>
          <a:solidFill>
            <a:srgbClr val="B03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1371600"/>
            <a:ext cx="512064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400" b="1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rPr>
              <a:t>Weaknesses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1783080"/>
            <a:ext cx="516636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Font typeface="Liberation Sans"/>
              <a:buChar char="•"/>
              <a:spcAft>
                <a:spcPts val="600"/>
              </a:spcAft>
            </a:pPr>
            <a:r>
              <a:rPr sz="1100" b="0">
                <a:solidFill>
                  <a:srgbClr val="1A1A1A"/>
                </a:solidFill>
                <a:latin typeface="Liberation Sans"/>
                <a:ea typeface="Liberation Sans"/>
                <a:cs typeface="Liberation Sans"/>
              </a:rPr>
              <a:t>Xilinx Artix incumbency on control paths; SmartFusion2 for security</a:t>
            </a:r>
          </a:p>
          <a:p>
            <a:pPr algn="l">
              <a:buFont typeface="Liberation Sans"/>
              <a:buChar char="•"/>
              <a:spcAft>
                <a:spcPts val="600"/>
              </a:spcAft>
            </a:pPr>
            <a:r>
              <a:rPr sz="1100" b="0">
                <a:solidFill>
                  <a:srgbClr val="1A1A1A"/>
                </a:solidFill>
                <a:latin typeface="Liberation Sans"/>
                <a:ea typeface="Liberation Sans"/>
                <a:cs typeface="Liberation Sans"/>
              </a:rPr>
              <a:t>Existing stacks ported to Xilinx / Microchip — high switching cost</a:t>
            </a:r>
          </a:p>
          <a:p>
            <a:pPr algn="l">
              <a:buFont typeface="Liberation Sans"/>
              <a:buChar char="•"/>
              <a:spcAft>
                <a:spcPts val="600"/>
              </a:spcAft>
            </a:pPr>
            <a:r>
              <a:rPr sz="1100" b="0">
                <a:solidFill>
                  <a:srgbClr val="1A1A1A"/>
                </a:solidFill>
                <a:latin typeface="Liberation Sans"/>
                <a:ea typeface="Liberation Sans"/>
                <a:cs typeface="Liberation Sans"/>
              </a:rPr>
              <a:t>Agilex 5 price gap (~40% vs Lattice); weak below ~$8–$20 vs PolarFire/Lattice</a:t>
            </a:r>
          </a:p>
          <a:p>
            <a:pPr algn="l">
              <a:buFont typeface="Liberation Sans"/>
              <a:buChar char="•"/>
              <a:spcAft>
                <a:spcPts val="600"/>
              </a:spcAft>
            </a:pPr>
            <a:r>
              <a:rPr sz="1100" b="0">
                <a:solidFill>
                  <a:srgbClr val="1A1A1A"/>
                </a:solidFill>
                <a:latin typeface="Liberation Sans"/>
                <a:ea typeface="Liberation Sans"/>
                <a:cs typeface="Liberation Sans"/>
              </a:rPr>
              <a:t>Thin coverage: 5% FSE / 10% FAE Cisco FTE vs rising support load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3886200"/>
            <a:ext cx="5532120" cy="233172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5760" y="3886200"/>
            <a:ext cx="5532120" cy="347472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3931920"/>
            <a:ext cx="512064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400" b="1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rPr>
              <a:t>Opportunities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4343400"/>
            <a:ext cx="516636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Font typeface="Liberation Sans"/>
              <a:buChar char="•"/>
              <a:spcAft>
                <a:spcPts val="600"/>
              </a:spcAft>
            </a:pPr>
            <a:r>
              <a:rPr sz="1100" b="0">
                <a:solidFill>
                  <a:srgbClr val="1A1A1A"/>
                </a:solidFill>
                <a:latin typeface="Liberation Sans"/>
                <a:ea typeface="Liberation Sans"/>
                <a:cs typeface="Liberation Sans"/>
              </a:rPr>
              <a:t>Control-plane sockets on 8000 / ASR from Bangalore; Agilex 5/3 + MAX 10 attach</a:t>
            </a:r>
          </a:p>
          <a:p>
            <a:pPr algn="l">
              <a:buFont typeface="Liberation Sans"/>
              <a:buChar char="•"/>
              <a:spcAft>
                <a:spcPts val="600"/>
              </a:spcAft>
            </a:pPr>
            <a:r>
              <a:rPr sz="1100" b="0">
                <a:solidFill>
                  <a:srgbClr val="1A1A1A"/>
                </a:solidFill>
                <a:latin typeface="Liberation Sans"/>
                <a:ea typeface="Liberation Sans"/>
                <a:cs typeface="Liberation Sans"/>
              </a:rPr>
              <a:t>Lavena returning to Agilex 7 after AMD timing issues; TM DWIN + Berkeley ramp</a:t>
            </a:r>
          </a:p>
          <a:p>
            <a:pPr algn="l">
              <a:buFont typeface="Liberation Sans"/>
              <a:buChar char="•"/>
              <a:spcAft>
                <a:spcPts val="600"/>
              </a:spcAft>
            </a:pPr>
            <a:r>
              <a:rPr sz="1100" b="0">
                <a:solidFill>
                  <a:srgbClr val="1A1A1A"/>
                </a:solidFill>
                <a:latin typeface="Liberation Sans"/>
                <a:ea typeface="Liberation Sans"/>
                <a:cs typeface="Liberation Sans"/>
              </a:rPr>
              <a:t>PQC, SEU, AI/ML telemetry demos already in motion with India eng</a:t>
            </a:r>
          </a:p>
          <a:p>
            <a:pPr algn="l">
              <a:buFont typeface="Liberation Sans"/>
              <a:buChar char="•"/>
              <a:spcAft>
                <a:spcPts val="600"/>
              </a:spcAft>
            </a:pPr>
            <a:r>
              <a:rPr sz="1100" b="0">
                <a:solidFill>
                  <a:srgbClr val="1A1A1A"/>
                </a:solidFill>
                <a:latin typeface="Liberation Sans"/>
                <a:ea typeface="Liberation Sans"/>
                <a:cs typeface="Liberation Sans"/>
              </a:rPr>
              <a:t>Cisco manufacturing investment in India; Marco Croci push for India → Altera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63640" y="3886200"/>
            <a:ext cx="5532120" cy="233172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63640" y="3886200"/>
            <a:ext cx="5532120" cy="347472"/>
          </a:xfrm>
          <a:prstGeom prst="rect">
            <a:avLst/>
          </a:prstGeom>
          <a:solidFill>
            <a:srgbClr val="C47A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3931920"/>
            <a:ext cx="512064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400" b="1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rPr>
              <a:t>Threats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4343400"/>
            <a:ext cx="516636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Font typeface="Liberation Sans"/>
              <a:buChar char="•"/>
              <a:spcAft>
                <a:spcPts val="600"/>
              </a:spcAft>
            </a:pPr>
            <a:r>
              <a:rPr sz="1100" b="0">
                <a:solidFill>
                  <a:srgbClr val="1A1A1A"/>
                </a:solidFill>
                <a:latin typeface="Liberation Sans"/>
                <a:ea typeface="Liberation Sans"/>
                <a:cs typeface="Liberation Sans"/>
              </a:rPr>
              <a:t>AMD Versal; Lattice mid-range; PolarFire security lock-in on CAT8k-class</a:t>
            </a:r>
          </a:p>
          <a:p>
            <a:pPr algn="l">
              <a:buFont typeface="Liberation Sans"/>
              <a:buChar char="•"/>
              <a:spcAft>
                <a:spcPts val="600"/>
              </a:spcAft>
            </a:pPr>
            <a:r>
              <a:rPr sz="1100" b="0">
                <a:solidFill>
                  <a:srgbClr val="1A1A1A"/>
                </a:solidFill>
                <a:latin typeface="Liberation Sans"/>
                <a:ea typeface="Liberation Sans"/>
                <a:cs typeface="Liberation Sans"/>
              </a:rPr>
              <a:t>Datapath → Silicon One / ASICs — FPGA TAM concentrates on control/glue</a:t>
            </a:r>
          </a:p>
          <a:p>
            <a:pPr algn="l">
              <a:buFont typeface="Liberation Sans"/>
              <a:buChar char="•"/>
              <a:spcAft>
                <a:spcPts val="600"/>
              </a:spcAft>
            </a:pPr>
            <a:r>
              <a:rPr sz="1100" b="0">
                <a:solidFill>
                  <a:srgbClr val="1A1A1A"/>
                </a:solidFill>
                <a:latin typeface="Liberation Sans"/>
                <a:ea typeface="Liberation Sans"/>
                <a:cs typeface="Liberation Sans"/>
              </a:rPr>
              <a:t>RFQ pricing losses; low-end secure ~$8 device request closed (no product)</a:t>
            </a:r>
          </a:p>
          <a:p>
            <a:pPr algn="l">
              <a:buFont typeface="Liberation Sans"/>
              <a:buChar char="•"/>
              <a:spcAft>
                <a:spcPts val="600"/>
              </a:spcAft>
            </a:pPr>
            <a:r>
              <a:rPr sz="1100" b="0">
                <a:solidFill>
                  <a:srgbClr val="1A1A1A"/>
                </a:solidFill>
                <a:latin typeface="Liberation Sans"/>
                <a:ea typeface="Liberation Sans"/>
                <a:cs typeface="Liberation Sans"/>
              </a:rPr>
              <a:t>Geopolitical / indigenous-FPGA pressure; WW inventory diverting focus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B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" y="6565392"/>
            <a:ext cx="54864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000" b="0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rPr>
              <a:t>Altera Confidential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6565392"/>
            <a:ext cx="219456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000" b="0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rPr>
              <a:t>6 /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A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>
                <a:solidFill>
                  <a:srgbClr val="007ACC"/>
                </a:solidFill>
                <a:latin typeface="Liberation Sans"/>
                <a:ea typeface="Liberation Sans"/>
                <a:cs typeface="Liberation Sans"/>
              </a:rPr>
              <a:t>Critical Needs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15568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>
                <a:solidFill>
                  <a:srgbClr val="0B2B45"/>
                </a:solidFill>
                <a:latin typeface="Liberation Sans"/>
                <a:ea typeface="Liberation Sans"/>
                <a:cs typeface="Liberation Sans"/>
              </a:rPr>
              <a:t>Critical Needs and Requirements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115568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5C6B7A"/>
                </a:solidFill>
                <a:latin typeface="Liberation Sans"/>
                <a:ea typeface="Liberation Sans"/>
                <a:cs typeface="Liberation Sans"/>
              </a:rPr>
              <a:t>India engineering asks aligned to WW Cisco key-needs list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20040" y="1280160"/>
          <a:ext cx="1152144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3200400"/>
                <a:gridCol w="2926080"/>
                <a:gridCol w="2468880"/>
              </a:tblGrid>
              <a:tr h="59436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Need</a:t>
                      </a:r>
                    </a:p>
                  </a:txBody>
                  <a:tcPr anchor="ctr">
                    <a:solidFill>
                      <a:srgbClr val="0B2B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Why it matters in India</a:t>
                      </a:r>
                    </a:p>
                  </a:txBody>
                  <a:tcPr anchor="ctr">
                    <a:solidFill>
                      <a:srgbClr val="0B2B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Status / ask</a:t>
                      </a:r>
                    </a:p>
                  </a:txBody>
                  <a:tcPr anchor="ctr">
                    <a:solidFill>
                      <a:srgbClr val="0B2B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Owner</a:t>
                      </a:r>
                    </a:p>
                  </a:txBody>
                  <a:tcPr anchor="ctr">
                    <a:solidFill>
                      <a:srgbClr val="0B2B45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Agilex 5 pricing (130K/200K LE)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RFQ vs Lattice ~$20/100KLE; ~40% gap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Golden-part pricing required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Sabrina / Jacques / Manoj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Low-end secure device (~$8)</a:t>
                      </a:r>
                    </a:p>
                  </a:txBody>
                  <a:tcPr anchor="ctr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PolarFire/Lattice sockets dominate</a:t>
                      </a:r>
                    </a:p>
                  </a:txBody>
                  <a:tcPr anchor="ctr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No product path — risk accepted</a:t>
                      </a:r>
                    </a:p>
                  </a:txBody>
                  <a:tcPr anchor="ctr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Deepali (closed)</a:t>
                      </a:r>
                    </a:p>
                  </a:txBody>
                  <a:tcPr anchor="ctr">
                    <a:solidFill>
                      <a:srgbClr val="EEF3F8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TM 220–240 MHz + MCDMA scale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ASR1k 110–120 MPPS; India day-to-day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240 MHz experimental; patches open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Kasturi / Factory APS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PQC / secure-boot / programmed parts</a:t>
                      </a:r>
                    </a:p>
                  </a:txBody>
                  <a:tcPr anchor="ctr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Displace SmartFusion2; Berkeley 2027</a:t>
                      </a:r>
                    </a:p>
                  </a:txBody>
                  <a:tcPr anchor="ctr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SEU done; black-key / CM signing</a:t>
                      </a:r>
                    </a:p>
                  </a:txBody>
                  <a:tcPr anchor="ctr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Security eng + India FAE</a:t>
                      </a:r>
                    </a:p>
                  </a:txBody>
                  <a:tcPr anchor="ctr">
                    <a:solidFill>
                      <a:srgbClr val="EEF3F8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DDR5 on Agilex 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Required beyond M-series TM wins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Not planned on Agilex 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Sam / Product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Agilex 5/7 loaners + TCL training</a:t>
                      </a:r>
                    </a:p>
                  </a:txBody>
                  <a:tcPr anchor="ctr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Bengaluru migration evaluation</a:t>
                      </a:r>
                    </a:p>
                  </a:txBody>
                  <a:tcPr anchor="ctr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Loaners / remote CRDC in flight</a:t>
                      </a:r>
                    </a:p>
                  </a:txBody>
                  <a:tcPr anchor="ctr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Kasturi / Rushikesh</a:t>
                      </a:r>
                    </a:p>
                  </a:txBody>
                  <a:tcPr anchor="ctr">
                    <a:solidFill>
                      <a:srgbClr val="EEF3F8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FAE bandwidth for Cisco India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TM+Lavena+Firebolt overload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HC #2 NDC/COMM (H1 FY27)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Rushikesh / India mgmt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B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65392"/>
            <a:ext cx="54864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000" b="0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rPr>
              <a:t>Altera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565392"/>
            <a:ext cx="219456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000" b="0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rPr>
              <a:t>7 /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A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>
                <a:solidFill>
                  <a:srgbClr val="007ACC"/>
                </a:solidFill>
                <a:latin typeface="Liberation Sans"/>
                <a:ea typeface="Liberation Sans"/>
                <a:cs typeface="Liberation Sans"/>
              </a:rPr>
              <a:t>Influence Map · Relationship Mapping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15568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>
                <a:solidFill>
                  <a:srgbClr val="0B2B45"/>
                </a:solidFill>
                <a:latin typeface="Liberation Sans"/>
                <a:ea typeface="Liberation Sans"/>
                <a:cs typeface="Liberation Sans"/>
              </a:rPr>
              <a:t>Cisco India stakeholders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115568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5C6B7A"/>
                </a:solidFill>
                <a:latin typeface="Liberation Sans"/>
                <a:ea typeface="Liberation Sans"/>
                <a:cs typeface="Liberation Sans"/>
              </a:rPr>
              <a:t>Bengaluru influence map — consensus-driven with Sr. Director sign-off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280160"/>
          <a:ext cx="114300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377440"/>
                <a:gridCol w="1554480"/>
                <a:gridCol w="4754880"/>
              </a:tblGrid>
              <a:tr h="6096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Name</a:t>
                      </a:r>
                    </a:p>
                  </a:txBody>
                  <a:tcPr anchor="ctr">
                    <a:solidFill>
                      <a:srgbClr val="0B2B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Role</a:t>
                      </a:r>
                    </a:p>
                  </a:txBody>
                  <a:tcPr anchor="ctr">
                    <a:solidFill>
                      <a:srgbClr val="0B2B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Stance</a:t>
                      </a:r>
                    </a:p>
                  </a:txBody>
                  <a:tcPr anchor="ctr">
                    <a:solidFill>
                      <a:srgbClr val="0B2B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Engagement notes</a:t>
                      </a:r>
                    </a:p>
                  </a:txBody>
                  <a:tcPr anchor="ctr">
                    <a:solidFill>
                      <a:srgbClr val="0B2B45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Vijay Pramod Kappagantula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FPGA Team Director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Altera Friendly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Met Aug 2025 (Ganga); SP routing/access/optical/cable FPGA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Alap Shah</a:t>
                      </a:r>
                    </a:p>
                  </a:txBody>
                  <a:tcPr anchor="ctr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Sr. Director, Central Eng</a:t>
                      </a:r>
                    </a:p>
                  </a:txBody>
                  <a:tcPr anchor="ctr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Strategic</a:t>
                      </a:r>
                    </a:p>
                  </a:txBody>
                  <a:tcPr anchor="ctr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24 yrs; platform HW &amp; FPGA for optical, core &amp; edge routing</a:t>
                      </a:r>
                    </a:p>
                  </a:txBody>
                  <a:tcPr anchor="ctr">
                    <a:solidFill>
                      <a:srgbClr val="EEF3F8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Akhil Guha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Sr. Director, Hardware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Strategic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SP access/routing/aggregation HW from Bangalore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Manikandan</a:t>
                      </a:r>
                    </a:p>
                  </a:txBody>
                  <a:tcPr anchor="ctr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Sr. Architect</a:t>
                      </a:r>
                    </a:p>
                  </a:txBody>
                  <a:tcPr anchor="ctr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Technical</a:t>
                      </a:r>
                    </a:p>
                  </a:txBody>
                  <a:tcPr anchor="ctr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FPGA architecture; briefing attendee</a:t>
                      </a:r>
                    </a:p>
                  </a:txBody>
                  <a:tcPr anchor="ctr">
                    <a:solidFill>
                      <a:srgbClr val="EEF3F8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Ramesh / Jasprit / Rakesh /
Harsh / Kannan / Vaibhav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FPGA / TM engineering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Day-to-day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Lavena, TM timing, Quartus, MCDMA validation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5120640"/>
            <a:ext cx="1124712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5C6B7A"/>
                </a:solidFill>
                <a:latin typeface="Liberation Sans"/>
                <a:ea typeface="Liberation Sans"/>
                <a:cs typeface="Liberation Sans"/>
              </a:rPr>
              <a:t>Influence path: Team leads / architects → Vijay Pramod (FPGA Director) → Akhil Guha / Alap Shah (Sr. Directors).
Technical proof (timing, MCDMA, pricing) must land at working level before director design commit. Optical dual-tracks with Cisco Italy.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B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565392"/>
            <a:ext cx="54864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000" b="0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rPr>
              <a:t>Altera Confidential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565392"/>
            <a:ext cx="219456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000" b="0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rPr>
              <a:t>8 /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A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>
                <a:solidFill>
                  <a:srgbClr val="007ACC"/>
                </a:solidFill>
                <a:latin typeface="Liberation Sans"/>
                <a:ea typeface="Liberation Sans"/>
                <a:cs typeface="Liberation Sans"/>
              </a:rPr>
              <a:t>Influence Map · Relationship Mapping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15568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>
                <a:solidFill>
                  <a:srgbClr val="0B2B45"/>
                </a:solidFill>
                <a:latin typeface="Liberation Sans"/>
                <a:ea typeface="Liberation Sans"/>
                <a:cs typeface="Liberation Sans"/>
              </a:rPr>
              <a:t>Altera coverage &amp; WW linkage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115568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5C6B7A"/>
                </a:solidFill>
                <a:latin typeface="Liberation Sans"/>
                <a:ea typeface="Liberation Sans"/>
                <a:cs typeface="Liberation Sans"/>
              </a:rPr>
              <a:t>Exec relationship map — India region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20040" y="1280160"/>
          <a:ext cx="1152144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2194560"/>
                <a:gridCol w="2560320"/>
                <a:gridCol w="4389120"/>
              </a:tblGrid>
              <a:tr h="52832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Altera</a:t>
                      </a:r>
                    </a:p>
                  </a:txBody>
                  <a:tcPr anchor="ctr">
                    <a:solidFill>
                      <a:srgbClr val="0B2B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Role</a:t>
                      </a:r>
                    </a:p>
                  </a:txBody>
                  <a:tcPr anchor="ctr">
                    <a:solidFill>
                      <a:srgbClr val="0B2B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Cisco scope</a:t>
                      </a:r>
                    </a:p>
                  </a:txBody>
                  <a:tcPr anchor="ctr">
                    <a:solidFill>
                      <a:srgbClr val="0B2B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Responsibility / next steps</a:t>
                      </a:r>
                    </a:p>
                  </a:txBody>
                  <a:tcPr anchor="ctr">
                    <a:solidFill>
                      <a:srgbClr val="0B2B45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Rushikesh Purohit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FAE / FAE Manager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AP-INDIA · ~10% FTE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Account lead, oppty owner, briefing owner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Manoj Gopalan</a:t>
                      </a:r>
                    </a:p>
                  </a:txBody>
                  <a:tcPr anchor="ctr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FSE</a:t>
                      </a:r>
                    </a:p>
                  </a:txBody>
                  <a:tcPr anchor="ctr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AP-INDIA · ~5% FTE</a:t>
                      </a:r>
                    </a:p>
                  </a:txBody>
                  <a:tcPr anchor="ctr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$250K DW / $1.15M rev quota slice</a:t>
                      </a:r>
                    </a:p>
                  </a:txBody>
                  <a:tcPr anchor="ctr">
                    <a:solidFill>
                      <a:srgbClr val="EEF3F8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Kasturi Rangan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FAE (NDC)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Cisco India programs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TM / Lavena / Firebolt technical ownership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Ganga Gopal</a:t>
                      </a:r>
                    </a:p>
                  </a:txBody>
                  <a:tcPr anchor="ctr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Leadership</a:t>
                      </a:r>
                    </a:p>
                  </a:txBody>
                  <a:tcPr anchor="ctr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India exec engagement</a:t>
                      </a:r>
                    </a:p>
                  </a:txBody>
                  <a:tcPr anchor="ctr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Relationship owner for Vijay Pramod</a:t>
                      </a:r>
                    </a:p>
                  </a:txBody>
                  <a:tcPr anchor="ctr">
                    <a:solidFill>
                      <a:srgbClr val="EEF3F8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Jacques Cesbron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SAM (Acting)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WW Cisco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Account strategy &amp; air cover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Shekar Chandra</a:t>
                      </a:r>
                    </a:p>
                  </a:txBody>
                  <a:tcPr anchor="ctr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FSE San Jose</a:t>
                      </a:r>
                    </a:p>
                  </a:txBody>
                  <a:tcPr anchor="ctr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WW ↔ India bridge</a:t>
                      </a:r>
                    </a:p>
                  </a:txBody>
                  <a:tcPr anchor="ctr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TM DWIN split / US oppty access</a:t>
                      </a:r>
                    </a:p>
                  </a:txBody>
                  <a:tcPr anchor="ctr">
                    <a:solidFill>
                      <a:srgbClr val="EEF3F8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Hua Xue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Exec Sponsor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WW Cisco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Executive sponsorship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Marco Croci</a:t>
                      </a:r>
                    </a:p>
                  </a:txBody>
                  <a:tcPr anchor="ctr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VP Eng (Cisco side bridge)</a:t>
                      </a:r>
                    </a:p>
                  </a:txBody>
                  <a:tcPr anchor="ctr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Italy / SJ</a:t>
                      </a:r>
                    </a:p>
                  </a:txBody>
                  <a:tcPr anchor="ctr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Push Indian engineering to use Altera</a:t>
                      </a:r>
                    </a:p>
                  </a:txBody>
                  <a:tcPr anchor="ctr"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B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65392"/>
            <a:ext cx="54864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000" b="0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rPr>
              <a:t>Altera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565392"/>
            <a:ext cx="219456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000" b="0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rPr>
              <a:t>9 /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A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>
                <a:solidFill>
                  <a:srgbClr val="007ACC"/>
                </a:solidFill>
                <a:latin typeface="Liberation Sans"/>
                <a:ea typeface="Liberation Sans"/>
                <a:cs typeface="Liberation Sans"/>
              </a:rPr>
              <a:t>Appendix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15568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>
                <a:solidFill>
                  <a:srgbClr val="0B2B45"/>
                </a:solidFill>
                <a:latin typeface="Liberation Sans"/>
                <a:ea typeface="Liberation Sans"/>
                <a:cs typeface="Liberation Sans"/>
              </a:rPr>
              <a:t>Sources &amp; disclaimer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115568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5C6B7A"/>
                </a:solidFill>
                <a:latin typeface="Liberation Sans"/>
                <a:ea typeface="Liberation Sans"/>
                <a:cs typeface="Liberation Sans"/>
              </a:rPr>
              <a:t>Aligned to 2025 Altera Strategic Account Plan Template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63040"/>
            <a:ext cx="10972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Font typeface="Liberation Sans"/>
              <a:buChar char="•"/>
              <a:spcAft>
                <a:spcPts val="600"/>
              </a:spcAft>
            </a:pPr>
            <a:r>
              <a:rPr sz="1400" b="0">
                <a:solidFill>
                  <a:srgbClr val="1A1A1A"/>
                </a:solidFill>
                <a:latin typeface="Liberation Sans"/>
                <a:ea typeface="Liberation Sans"/>
                <a:cs typeface="Liberation Sans"/>
              </a:rPr>
              <a:t>2025 Altera Strategic Account Plan Template (WW Strategic Accounts)</a:t>
            </a:r>
          </a:p>
          <a:p>
            <a:pPr algn="l">
              <a:buFont typeface="Liberation Sans"/>
              <a:buChar char="•"/>
              <a:spcAft>
                <a:spcPts val="600"/>
              </a:spcAft>
            </a:pPr>
            <a:r>
              <a:rPr sz="1400" b="0">
                <a:solidFill>
                  <a:srgbClr val="1A1A1A"/>
                </a:solidFill>
                <a:latin typeface="Liberation Sans"/>
                <a:ea typeface="Liberation Sans"/>
                <a:cs typeface="Liberation Sans"/>
              </a:rPr>
              <a:t>2025 CISCO ACCOUNT PLAN October 25 update</a:t>
            </a:r>
          </a:p>
          <a:p>
            <a:pPr algn="l">
              <a:buFont typeface="Liberation Sans"/>
              <a:buChar char="•"/>
              <a:spcAft>
                <a:spcPts val="600"/>
              </a:spcAft>
            </a:pPr>
            <a:r>
              <a:rPr sz="1400" b="0">
                <a:solidFill>
                  <a:srgbClr val="1A1A1A"/>
                </a:solidFill>
                <a:latin typeface="Liberation Sans"/>
                <a:ea typeface="Liberation Sans"/>
                <a:cs typeface="Liberation Sans"/>
              </a:rPr>
              <a:t>Briefing Document_Cisco_India (Rushikesh Purohit, Jul 2025)</a:t>
            </a:r>
          </a:p>
          <a:p>
            <a:pPr algn="l">
              <a:buFont typeface="Liberation Sans"/>
              <a:buChar char="•"/>
              <a:spcAft>
                <a:spcPts val="600"/>
              </a:spcAft>
            </a:pPr>
            <a:r>
              <a:rPr sz="1400" b="0">
                <a:solidFill>
                  <a:srgbClr val="1A1A1A"/>
                </a:solidFill>
                <a:latin typeface="Liberation Sans"/>
                <a:ea typeface="Liberation Sans"/>
                <a:cs typeface="Liberation Sans"/>
              </a:rPr>
              <a:t>Pipeline Raw Report (SFDC) · India_weekly_update · KasturiRanganWeeklyUpdate</a:t>
            </a:r>
          </a:p>
          <a:p>
            <a:pPr algn="l">
              <a:buFont typeface="Liberation Sans"/>
              <a:buChar char="•"/>
              <a:spcAft>
                <a:spcPts val="600"/>
              </a:spcAft>
            </a:pPr>
            <a:r>
              <a:rPr sz="1400" b="0">
                <a:solidFill>
                  <a:srgbClr val="1A1A1A"/>
                </a:solidFill>
                <a:latin typeface="Liberation Sans"/>
                <a:ea typeface="Liberation Sans"/>
                <a:cs typeface="Liberation Sans"/>
              </a:rPr>
              <a:t>Altera_Status_to_Cisco — Traffic Manager engineering status (Oct 2026)</a:t>
            </a:r>
          </a:p>
          <a:p>
            <a:pPr algn="l">
              <a:buFont typeface="Liberation Sans"/>
              <a:buChar char="•"/>
              <a:spcAft>
                <a:spcPts val="600"/>
              </a:spcAft>
            </a:pPr>
            <a:r>
              <a:rPr sz="1400" b="0">
                <a:solidFill>
                  <a:srgbClr val="1A1A1A"/>
                </a:solidFill>
                <a:latin typeface="Liberation Sans"/>
                <a:ea typeface="Liberation Sans"/>
                <a:cs typeface="Liberation Sans"/>
              </a:rPr>
              <a:t>India_2026Plan / FAE growth notes</a:t>
            </a:r>
          </a:p>
          <a:p>
            <a:pPr algn="l">
              <a:buFont typeface="Liberation Sans"/>
              <a:buChar char="•"/>
              <a:spcAft>
                <a:spcPts val="600"/>
              </a:spcAft>
            </a:pPr>
            <a:r>
              <a:rPr sz="1400" b="0">
                <a:solidFill>
                  <a:srgbClr val="1A1A1A"/>
                </a:solidFill>
                <a:latin typeface="Liberation Sans"/>
                <a:ea typeface="Liberation Sans"/>
                <a:cs typeface="Liberation Sans"/>
              </a:rPr>
              <a:t>Disclaimer: Pipe dollars/stages from Glean/SFDC extracts — confirm live SFDC before external use. WW $139M pipe is account-wide, not India-only.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B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65392"/>
            <a:ext cx="54864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000" b="0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rPr>
              <a:t>Altera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565392"/>
            <a:ext cx="219456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000" b="0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rPr>
              <a:t>10 /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